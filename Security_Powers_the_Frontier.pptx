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3.svg" ContentType="image/svg+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9" r:id="rId8"/>
    <p:sldId id="267" r:id="rId9"/>
    <p:sldId id="266" r:id="rId10"/>
    <p:sldId id="263"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56" autoAdjust="0"/>
    <p:restoredTop sz="94660"/>
  </p:normalViewPr>
  <p:slideViewPr>
    <p:cSldViewPr snapToGrid="0" snapToObjects="1">
      <p:cViewPr varScale="1">
        <p:scale>
          <a:sx n="84" d="100"/>
          <a:sy n="84" d="100"/>
        </p:scale>
        <p:origin x="93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493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opening video fades out on the title card. Advance to Slide 1 as you walk to center stage. Pause for a beat and let the horizon image land before speaking.]</a:t>
            </a:r>
          </a:p>
          <a:p>
            <a:endParaRPr/>
          </a:p>
          <a:p>
            <a:r>
              <a:t>Microsoft calls this Frontier Transformation.</a:t>
            </a:r>
          </a:p>
          <a:p>
            <a:endParaRPr/>
          </a:p>
          <a:p>
            <a:r>
              <a:t>Every generation gets its frontier. For some it was the open ocean. For others it was flight, electricity, space, the internet.</a:t>
            </a:r>
          </a:p>
          <a:p>
            <a:endParaRPr/>
          </a:p>
          <a:p>
            <a:r>
              <a:t>Ours is artificial intelligence. And this frontier is different, because for the first time the technology doesn't just hand us a new tool. It gives us collaborators that can reason and act alongside us.</a:t>
            </a:r>
          </a:p>
          <a:p>
            <a:endParaRPr/>
          </a:p>
          <a:p>
            <a:r>
              <a:t>So today I'm not going to start with threats. I'm going to start with possibility.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[Gesture left to right across the three stages as you name them. Slow down for the Microsoft quote.]</a:t>
            </a:r>
          </a:p>
          <a:p>
            <a:endParaRPr/>
          </a:p>
          <a:p>
            <a:r>
              <a:t>Most organizations have already started this journey. They experimented. They adopted copilots. Now the leaders are going further.</a:t>
            </a:r>
          </a:p>
          <a:p>
            <a:endParaRPr/>
          </a:p>
          <a:p>
            <a:r>
              <a:t>Microsoft describes Frontier Transformation as “a holistic reimagining of business, aligning AI with human ambition to achieve an organization’s highest aspirations.”</a:t>
            </a:r>
          </a:p>
          <a:p>
            <a:endParaRPr/>
          </a:p>
          <a:p>
            <a:r>
              <a:t>In a Frontier organization, work becomes human-led and agent-operated. People set the direction, the judgment and the guardrails. Agents carry out more and more of the execution.</a:t>
            </a:r>
          </a:p>
          <a:p>
            <a:endParaRPr/>
          </a:p>
          <a:p>
            <a:r>
              <a:t>That isn't a technology upgrade. That's a new way of operating.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[Touch each image as you name it. After the question, stop talking for three full seconds.]</a:t>
            </a:r>
          </a:p>
          <a:p>
            <a:endParaRPr/>
          </a:p>
          <a:p>
            <a:r>
              <a:t>Let's make this real. My customers are technology companies and manufacturers, and I see this every day.</a:t>
            </a:r>
          </a:p>
          <a:p>
            <a:endParaRPr/>
          </a:p>
          <a:p>
            <a:r>
              <a:t>Engineers who create and ship faster with AI beside them. Researchers who discover answers sooner. Service teams who serve every customer with full context. Factories that grow output while becoming smarter and more resilient.</a:t>
            </a:r>
          </a:p>
          <a:p>
            <a:endParaRPr/>
          </a:p>
          <a:p>
            <a:r>
              <a:t>So here's the question I ask every customer:</a:t>
            </a:r>
          </a:p>
          <a:p>
            <a:endParaRPr/>
          </a:p>
          <a:p>
            <a:r>
              <a:t>What could your organization accomplish if intelligence were available everywhere work happens?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reveal. Lower your voice slightly and slow your pace. Land the last line and hold eye contact.]</a:t>
            </a:r>
          </a:p>
          <a:p>
            <a:endParaRPr/>
          </a:p>
          <a:p>
            <a:r>
              <a:t>Now here's the part that decides who actually gets there.</a:t>
            </a:r>
          </a:p>
          <a:p>
            <a:endParaRPr/>
          </a:p>
          <a:p>
            <a:r>
              <a:t>Microsoft says Frontier Transformation rests on two essential elements: intelligence... and trust.</a:t>
            </a:r>
          </a:p>
          <a:p>
            <a:endParaRPr/>
          </a:p>
          <a:p>
            <a:r>
              <a:t>Intelligence creates capability. Trust is what lets an organization say yes. Yes to AI. Yes to agents. Yes to automation. Yes to new ways of working.</a:t>
            </a:r>
          </a:p>
          <a:p>
            <a:endParaRPr/>
          </a:p>
          <a:p>
            <a:r>
              <a:t>And trust starts with security.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bridge in the image. Deliver the final line as the memorable moment of the presentation.]</a:t>
            </a:r>
          </a:p>
          <a:p>
            <a:endParaRPr/>
          </a:p>
          <a:p>
            <a:r>
              <a:t>For years, security has been seen as the department of no. The brake pedal. The thing that slows innovation down.</a:t>
            </a:r>
          </a:p>
          <a:p>
            <a:endParaRPr/>
          </a:p>
          <a:p>
            <a:r>
              <a:t>But look at this bridge. Nobody walks across a canyon because they're reckless. They walk across because they trust what's underneath them.</a:t>
            </a:r>
          </a:p>
          <a:p>
            <a:endParaRPr/>
          </a:p>
          <a:p>
            <a:r>
              <a:t>That's the frontier reality. Security doesn't stop us from moving. It gives us the confidence to move.</a:t>
            </a:r>
          </a:p>
          <a:p>
            <a:endParaRPr/>
          </a:p>
          <a:p>
            <a:r>
              <a:t>Security isn't the brake. It's the confidence to accelerate.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Microsoft quote word for word. It is Microsoft Security's stated vision.]</a:t>
            </a:r>
          </a:p>
          <a:p>
            <a:endParaRPr/>
          </a:p>
          <a:p>
            <a:r>
              <a:t>Microsoft's security vision says it in one sentence: “Security should be ambient and autonomous, just like the AI it protects.”</a:t>
            </a:r>
          </a:p>
          <a:p>
            <a:endParaRPr/>
          </a:p>
          <a:p>
            <a:r>
              <a:t>Ambient means security is woven into the environment, across identity, data, devices, apps and cloud, instead of being bolted onto every interaction and slowing people down.</a:t>
            </a:r>
          </a:p>
          <a:p>
            <a:endParaRPr/>
          </a:p>
          <a:p>
            <a:r>
              <a:t>Autonomous means AI and automation work for the defenders too, perceiving, reasoning and acting at machine speed.</a:t>
            </a:r>
          </a:p>
          <a:p>
            <a:endParaRPr/>
          </a:p>
          <a:p>
            <a:r>
              <a:t>Microsoft calls this security as the core primitive of the AI stack. In plain words: when AI is everywhere, security has to be everywhere too, quietly.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9AD32-58CA-B76C-503A-E0F4E76F0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D48AE-5F59-029D-D24D-2F8D4D925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DCCE0-5A88-CA52-5711-D734FEF158DA}"/>
              </a:ext>
            </a:extLst>
          </p:cNvPr>
          <p:cNvSpPr>
            <a:spLocks noGrp="1"/>
          </p:cNvSpPr>
          <p:nvPr>
            <p:ph type="body" idx="1"/>
          </p:nvPr>
        </p:nvSpPr>
        <p:spPr/>
        <p:txBody>
          <a:bodyPr/>
          <a:lstStyle/>
          <a:p>
            <a:pPr rtl="0" fontAlgn="base"/>
            <a:r>
              <a:rPr lang="en-US" sz="1200" b="0" i="0" kern="1200">
                <a:solidFill>
                  <a:schemeClr val="tx1"/>
                </a:solidFill>
                <a:effectLst/>
                <a:latin typeface="+mn-lt"/>
                <a:ea typeface="+mn-ea"/>
                <a:cs typeface="+mn-cs"/>
              </a:rPr>
              <a:t>These capabilities are delivered through  our AI‑first security platform secures you end to end by bringing </a:t>
            </a:r>
          </a:p>
          <a:p>
            <a:pPr rtl="0" fontAlgn="base"/>
            <a:r>
              <a:rPr lang="en-US" sz="1200" b="0" i="0" kern="1200">
                <a:solidFill>
                  <a:schemeClr val="tx1"/>
                </a:solidFill>
                <a:effectLst/>
                <a:latin typeface="+mn-lt"/>
                <a:ea typeface="+mn-ea"/>
                <a:cs typeface="+mn-cs"/>
              </a:rPr>
              <a:t>together five product families that work as one, sharing signal, context, and intelligence across the entire environment. </a:t>
            </a:r>
          </a:p>
          <a:p>
            <a:pPr rtl="0" fontAlgn="base"/>
            <a:r>
              <a:rPr lang="en-US" sz="1200" b="0" i="0" kern="1200">
                <a:solidFill>
                  <a:schemeClr val="tx1"/>
                </a:solidFill>
                <a:effectLst/>
                <a:latin typeface="+mn-lt"/>
                <a:ea typeface="+mn-ea"/>
                <a:cs typeface="+mn-cs"/>
              </a:rPr>
              <a:t>Defender provides AI‑powered threat protection. </a:t>
            </a:r>
          </a:p>
          <a:p>
            <a:pPr rtl="0" fontAlgn="base"/>
            <a:r>
              <a:rPr lang="en-US" sz="1200" b="0" i="0" kern="1200">
                <a:solidFill>
                  <a:schemeClr val="tx1"/>
                </a:solidFill>
                <a:effectLst/>
                <a:latin typeface="+mn-lt"/>
                <a:ea typeface="+mn-ea"/>
                <a:cs typeface="+mn-cs"/>
              </a:rPr>
              <a:t>Purview secures data wherever it lives and however it’s used. </a:t>
            </a:r>
          </a:p>
          <a:p>
            <a:pPr rtl="0" fontAlgn="base"/>
            <a:r>
              <a:rPr lang="en-US" sz="1200" b="0" i="0" kern="1200">
                <a:solidFill>
                  <a:schemeClr val="tx1"/>
                </a:solidFill>
                <a:effectLst/>
                <a:latin typeface="+mn-lt"/>
                <a:ea typeface="+mn-ea"/>
                <a:cs typeface="+mn-cs"/>
              </a:rPr>
              <a:t>Intune ensures every device that connects to your organization is configured safely. </a:t>
            </a:r>
          </a:p>
          <a:p>
            <a:pPr rtl="0" fontAlgn="base"/>
            <a:r>
              <a:rPr lang="en-US" sz="1200" b="0" i="0" kern="1200">
                <a:solidFill>
                  <a:schemeClr val="tx1"/>
                </a:solidFill>
                <a:effectLst/>
                <a:latin typeface="+mn-lt"/>
                <a:ea typeface="+mn-ea"/>
                <a:cs typeface="+mn-cs"/>
              </a:rPr>
              <a:t>Entra provides secure access for users and agents. </a:t>
            </a:r>
          </a:p>
          <a:p>
            <a:pPr rtl="0" fontAlgn="base"/>
            <a:r>
              <a:rPr lang="en-US" sz="1200" b="0" i="0" kern="1200">
                <a:solidFill>
                  <a:schemeClr val="tx1"/>
                </a:solidFill>
                <a:effectLst/>
                <a:latin typeface="+mn-lt"/>
                <a:ea typeface="+mn-ea"/>
                <a:cs typeface="+mn-cs"/>
              </a:rPr>
              <a:t>Sentinel acts as the platform layer that connects it all and Security Copilot runs across the entire platform — giving defenders intelligence, speed, and autonomy to operate at the pace of today’s threats. </a:t>
            </a:r>
          </a:p>
        </p:txBody>
      </p:sp>
      <p:sp>
        <p:nvSpPr>
          <p:cNvPr id="4" name="Slide Number Placeholder 3">
            <a:extLst>
              <a:ext uri="{FF2B5EF4-FFF2-40B4-BE49-F238E27FC236}">
                <a16:creationId xmlns:a16="http://schemas.microsoft.com/office/drawing/2014/main" id="{BCF23420-0789-85FF-D35F-27C1B607D3B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DD9B25-2FD5-471D-995E-76931ED4A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1865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647A-F94B-8950-BF8A-D63B76CF4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B9AC9-DE6C-EA5A-3366-807858E4E4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BCC22-F8C2-EA5C-C678-5EF95E9E4D29}"/>
              </a:ext>
            </a:extLst>
          </p:cNvPr>
          <p:cNvSpPr>
            <a:spLocks noGrp="1"/>
          </p:cNvSpPr>
          <p:nvPr>
            <p:ph type="body" idx="1"/>
          </p:nvPr>
        </p:nvSpPr>
        <p:spPr/>
        <p:txBody>
          <a:bodyPr/>
          <a:lstStyle/>
          <a:p>
            <a:pPr rtl="0" fontAlgn="base"/>
            <a:r>
              <a:rPr lang="en-US" sz="1200" b="0" i="0" kern="1200">
                <a:solidFill>
                  <a:schemeClr val="tx1"/>
                </a:solidFill>
                <a:effectLst/>
                <a:latin typeface="+mn-lt"/>
                <a:ea typeface="+mn-ea"/>
                <a:cs typeface="+mn-cs"/>
              </a:rPr>
              <a:t>With Microsoft you get comprehensive protection – across agents, and users. ME5 advanced security capabilities are included in ME7 to help  </a:t>
            </a:r>
          </a:p>
          <a:p>
            <a:pPr rtl="0" fontAlgn="base"/>
            <a:r>
              <a:rPr lang="en-US" sz="1200" b="0" i="0" kern="1200">
                <a:solidFill>
                  <a:schemeClr val="tx1"/>
                </a:solidFill>
                <a:effectLst/>
                <a:latin typeface="+mn-lt"/>
                <a:ea typeface="+mn-ea"/>
                <a:cs typeface="+mn-cs"/>
              </a:rPr>
              <a:t>First — Protect identities and their access to resources – this is critical for both users and agents </a:t>
            </a:r>
          </a:p>
          <a:p>
            <a:pPr rtl="0" fontAlgn="base"/>
            <a:r>
              <a:rPr lang="en-US" sz="1200" b="0" i="0" kern="1200">
                <a:solidFill>
                  <a:schemeClr val="tx1"/>
                </a:solidFill>
                <a:effectLst/>
                <a:latin typeface="+mn-lt"/>
                <a:ea typeface="+mn-ea"/>
                <a:cs typeface="+mn-cs"/>
              </a:rPr>
              <a:t>Next — Protect data and governing how it’s used and shared to prevent oversharing and leakage. </a:t>
            </a:r>
          </a:p>
          <a:p>
            <a:pPr rtl="0" fontAlgn="base"/>
            <a:r>
              <a:rPr lang="en-US" sz="1200" b="0" i="0" kern="1200">
                <a:solidFill>
                  <a:schemeClr val="tx1"/>
                </a:solidFill>
                <a:effectLst/>
                <a:latin typeface="+mn-lt"/>
                <a:ea typeface="+mn-ea"/>
                <a:cs typeface="+mn-cs"/>
              </a:rPr>
              <a:t>And finally — defend against threats – from strengthening security posture to adopt AI-powered detection and response  </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FEC1C37-4B77-EA74-20AD-58BA533EDF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6DD9B25-2FD5-471D-995E-76931ED4A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3652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3486A-1344-431F-6304-232A5EAEB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A8771-17F0-49FB-BE08-AFC289714470}"/>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530913DF-5CCC-32E6-E338-86C4309B43D2}"/>
              </a:ext>
            </a:extLst>
          </p:cNvPr>
          <p:cNvSpPr>
            <a:spLocks noGrp="1"/>
          </p:cNvSpPr>
          <p:nvPr>
            <p:ph type="body" idx="1"/>
          </p:nvPr>
        </p:nvSpPr>
        <p:spPr/>
        <p:txBody>
          <a:bodyPr/>
          <a:lstStyle/>
          <a:p>
            <a:pPr rtl="0" fontAlgn="base"/>
            <a:r>
              <a:rPr lang="en-US" sz="1200" b="0" i="0" kern="1200">
                <a:solidFill>
                  <a:schemeClr val="tx1"/>
                </a:solidFill>
                <a:effectLst/>
                <a:latin typeface="+mn-lt"/>
                <a:ea typeface="+mn-ea"/>
                <a:cs typeface="+mn-cs"/>
              </a:rPr>
              <a:t>We built Agent 365 to address those questions. Agent 365 is *the* control plane for agents. It enables scale adoption of agents with proper oversight, guardrails, and security by extending the management and security capabilities you already use to secure users to agents. </a:t>
            </a:r>
          </a:p>
          <a:p>
            <a:pPr rtl="0" fontAlgn="base"/>
            <a:r>
              <a:rPr lang="en-US" sz="1200" b="0" i="0" kern="1200">
                <a:solidFill>
                  <a:schemeClr val="tx1"/>
                </a:solidFill>
                <a:effectLst/>
                <a:latin typeface="+mn-lt"/>
                <a:ea typeface="+mn-ea"/>
                <a:cs typeface="+mn-cs"/>
              </a:rPr>
              <a:t>It is an integrated solution that has three core capability areas:  </a:t>
            </a:r>
          </a:p>
          <a:p>
            <a:pPr rtl="0" fontAlgn="base"/>
            <a:r>
              <a:rPr lang="en-US" sz="1200" b="0" i="0" kern="1200">
                <a:solidFill>
                  <a:schemeClr val="tx1"/>
                </a:solidFill>
                <a:effectLst/>
                <a:latin typeface="+mn-lt"/>
                <a:ea typeface="+mn-ea"/>
                <a:cs typeface="+mn-cs"/>
              </a:rPr>
              <a:t>First, </a:t>
            </a:r>
            <a:r>
              <a:rPr lang="en-US" sz="1200" b="1" i="0" kern="1200">
                <a:solidFill>
                  <a:schemeClr val="tx1"/>
                </a:solidFill>
                <a:effectLst/>
                <a:latin typeface="+mn-lt"/>
                <a:ea typeface="+mn-ea"/>
                <a:cs typeface="+mn-cs"/>
              </a:rPr>
              <a:t>observe</a:t>
            </a:r>
            <a:r>
              <a:rPr lang="en-US" sz="1200" b="0" i="0" kern="1200">
                <a:solidFill>
                  <a:schemeClr val="tx1"/>
                </a:solidFill>
                <a:effectLst/>
                <a:latin typeface="+mn-lt"/>
                <a:ea typeface="+mn-ea"/>
                <a:cs typeface="+mn-cs"/>
              </a:rPr>
              <a:t>, because you cannot control what you cannot see. So, with Agent 365 you can monitor and manage agents in real time </a:t>
            </a:r>
          </a:p>
          <a:p>
            <a:pPr rtl="0" fontAlgn="base"/>
            <a:r>
              <a:rPr lang="en-US" sz="1200" b="0" i="0" kern="1200">
                <a:solidFill>
                  <a:schemeClr val="tx1"/>
                </a:solidFill>
                <a:effectLst/>
                <a:latin typeface="+mn-lt"/>
                <a:ea typeface="+mn-ea"/>
                <a:cs typeface="+mn-cs"/>
              </a:rPr>
              <a:t>Nest, </a:t>
            </a:r>
            <a:r>
              <a:rPr lang="en-US" sz="1200" b="1" i="0" kern="1200">
                <a:solidFill>
                  <a:schemeClr val="tx1"/>
                </a:solidFill>
                <a:effectLst/>
                <a:latin typeface="+mn-lt"/>
                <a:ea typeface="+mn-ea"/>
                <a:cs typeface="+mn-cs"/>
              </a:rPr>
              <a:t>govern</a:t>
            </a:r>
            <a:r>
              <a:rPr lang="en-US" sz="1200" b="0" i="0" kern="1200">
                <a:solidFill>
                  <a:schemeClr val="tx1"/>
                </a:solidFill>
                <a:effectLst/>
                <a:latin typeface="+mn-lt"/>
                <a:ea typeface="+mn-ea"/>
                <a:cs typeface="+mn-cs"/>
              </a:rPr>
              <a:t> agents throughout their lifecycle with the right guardrails for agents and users </a:t>
            </a:r>
          </a:p>
          <a:p>
            <a:pPr rtl="0" fontAlgn="base"/>
            <a:r>
              <a:rPr lang="en-US" sz="1200" b="0" i="0" kern="1200">
                <a:solidFill>
                  <a:schemeClr val="tx1"/>
                </a:solidFill>
                <a:effectLst/>
                <a:latin typeface="+mn-lt"/>
                <a:ea typeface="+mn-ea"/>
                <a:cs typeface="+mn-cs"/>
              </a:rPr>
              <a:t>And finally, </a:t>
            </a:r>
            <a:r>
              <a:rPr lang="en-US" sz="1200" b="1" i="0" kern="1200">
                <a:solidFill>
                  <a:schemeClr val="tx1"/>
                </a:solidFill>
                <a:effectLst/>
                <a:latin typeface="+mn-lt"/>
                <a:ea typeface="+mn-ea"/>
                <a:cs typeface="+mn-cs"/>
              </a:rPr>
              <a:t>secure</a:t>
            </a:r>
            <a:r>
              <a:rPr lang="en-US" sz="1200" b="0" i="0" kern="1200">
                <a:solidFill>
                  <a:schemeClr val="tx1"/>
                </a:solidFill>
                <a:effectLst/>
                <a:latin typeface="+mn-lt"/>
                <a:ea typeface="+mn-ea"/>
                <a:cs typeface="+mn-cs"/>
              </a:rPr>
              <a:t> agents comprehensively so they cannot be misused by malicious actors.  </a:t>
            </a:r>
          </a:p>
          <a:p>
            <a:pPr rtl="0" fontAlgn="base"/>
            <a:r>
              <a:rPr lang="en-US" sz="1200" b="0" i="0" kern="1200">
                <a:solidFill>
                  <a:schemeClr val="tx1"/>
                </a:solidFill>
                <a:effectLst/>
                <a:latin typeface="+mn-lt"/>
                <a:ea typeface="+mn-ea"/>
                <a:cs typeface="+mn-cs"/>
              </a:rPr>
              <a:t>Let’s go deeper on each of those capability areas </a:t>
            </a:r>
          </a:p>
          <a:p>
            <a:endParaRPr lang="en-US" sz="1800">
              <a:ea typeface="Calibri"/>
              <a:cs typeface="Calibri"/>
            </a:endParaRPr>
          </a:p>
        </p:txBody>
      </p:sp>
      <p:sp>
        <p:nvSpPr>
          <p:cNvPr id="4" name="Slide Number Placeholder 3">
            <a:extLst>
              <a:ext uri="{FF2B5EF4-FFF2-40B4-BE49-F238E27FC236}">
                <a16:creationId xmlns:a16="http://schemas.microsoft.com/office/drawing/2014/main" id="{D80B9EDF-527D-BA71-45B6-112AF2D4842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5FABD56-7E30-471F-B77B-F411599753D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30049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[Sweep across the six outcomes quickly, then pause on 124%. Say “commissioned by Microsoft” so the judges hear you citing it accurately. Do not read the NPV or TCO unless a judge asks.]</a:t>
            </a:r>
          </a:p>
          <a:p>
            <a:endParaRPr/>
          </a:p>
          <a:p>
            <a:r>
              <a:t>And this isn't only about disasters we avoid. It's about velocity.</a:t>
            </a:r>
          </a:p>
          <a:p>
            <a:endParaRPr/>
          </a:p>
          <a:p>
            <a:r>
              <a:t>When security is unified, organizations move faster, innovate with confidence, reduce friction for their people, simplify operations and scale AI responsibly.</a:t>
            </a:r>
          </a:p>
          <a:p>
            <a:endParaRPr/>
          </a:p>
          <a:p>
            <a:r>
              <a:t>There's hard evidence behind it. A Forrester Total Economic Impact study, commissioned by Microsoft, projects a 124% return on investment for a composite organization unifying on Microsoft Security, with payback in under six months.</a:t>
            </a:r>
          </a:p>
          <a:p>
            <a:endParaRPr/>
          </a:p>
          <a:p>
            <a:r>
              <a:t>Trust isn't simply a security outcome. It's a business capability.</a:t>
            </a:r>
          </a:p>
          <a:p>
            <a:endParaRPr/>
          </a:p>
          <a:p>
            <a:r>
              <a:t>[If asked: the same study projects $16.6 million NPV and 20% lower TCO for that composite organization. Say “projects,” not “guarantees.” Source: Forrester Consulting, The Total Economic Impact of Microsoft Security, May 2026, commissioned by Microsoft.]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[Bring your energy up. Deliver the three short lines with a steady rhythm.]</a:t>
            </a:r>
          </a:p>
          <a:p>
            <a:endParaRPr/>
          </a:p>
          <a:p>
            <a:r>
              <a:t>The frontier won't stand still. AI will get more capable. Agents will do more. Organizations will move faster.</a:t>
            </a:r>
          </a:p>
          <a:p>
            <a:endParaRPr/>
          </a:p>
          <a:p>
            <a:r>
              <a:t>So our opportunity at Microsoft isn't to make customers afraid of what's next.</a:t>
            </a:r>
          </a:p>
          <a:p>
            <a:endParaRPr/>
          </a:p>
          <a:p>
            <a:r>
              <a:t>It's to give them the confidence to embrace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forward. Slow, deliberate close. Hold for applause before leaving the stage.]</a:t>
            </a:r>
          </a:p>
          <a:p>
            <a:endParaRPr/>
          </a:p>
          <a:p>
            <a:r>
              <a:t>That's what cybersecurity becomes in the age of AI.</a:t>
            </a:r>
          </a:p>
          <a:p>
            <a:endParaRPr/>
          </a:p>
          <a:p>
            <a:r>
              <a:t>Not a wall at the edge of the frontier, but the trust that lets us cross it.</a:t>
            </a:r>
          </a:p>
          <a:p>
            <a:endParaRPr/>
          </a:p>
          <a:p>
            <a:r>
              <a:t>Secure what's next. Power the frontier.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9.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422"/>
        </a:solidFill>
        <a:effectLst/>
      </p:bgPr>
    </p:bg>
    <p:spTree>
      <p:nvGrpSpPr>
        <p:cNvPr id="1" name=""/>
        <p:cNvGrpSpPr/>
        <p:nvPr/>
      </p:nvGrpSpPr>
      <p:grpSpPr>
        <a:xfrm>
          <a:off x="0" y="0"/>
          <a:ext cx="0" cy="0"/>
          <a:chOff x="0" y="0"/>
          <a:chExt cx="0" cy="0"/>
        </a:xfrm>
      </p:grpSpPr>
      <p:pic>
        <p:nvPicPr>
          <p:cNvPr id="2" name="Picture 1" descr="A lone figure facing a sunlit ocean horizon."/>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5120640" y="0"/>
            <a:ext cx="7077456" cy="6858000"/>
          </a:xfrm>
          <a:prstGeom prst="rect">
            <a:avLst/>
          </a:prstGeom>
          <a:gradFill rotWithShape="1">
            <a:gsLst>
              <a:gs pos="0">
                <a:srgbClr val="071422">
                  <a:alpha val="78000"/>
                </a:srgbClr>
              </a:gs>
              <a:gs pos="55000">
                <a:srgbClr val="071422">
                  <a:alpha val="28000"/>
                </a:srgbClr>
              </a:gs>
              <a:gs pos="100000">
                <a:srgbClr val="071422">
                  <a:alpha val="0"/>
                </a:srgbClr>
              </a:gs>
            </a:gsLst>
            <a:lin ang="108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989320" y="3794760"/>
            <a:ext cx="5669280" cy="2377440"/>
          </a:xfrm>
          <a:prstGeom prst="rect">
            <a:avLst/>
          </a:prstGeom>
          <a:noFill/>
        </p:spPr>
        <p:txBody>
          <a:bodyPr wrap="square" lIns="0" tIns="18288" rIns="0" bIns="18288" anchor="t"/>
          <a:lstStyle/>
          <a:p>
            <a:pPr algn="l">
              <a:lnSpc>
                <a:spcPct val="90000"/>
              </a:lnSpc>
              <a:spcBef>
                <a:spcPts val="0"/>
              </a:spcBef>
              <a:spcAft>
                <a:spcPts val="800"/>
              </a:spcAft>
            </a:pPr>
            <a:r>
              <a:rPr lang="en-US" sz="5400" b="0" i="0" dirty="0">
                <a:solidFill>
                  <a:srgbClr val="FFFFFF"/>
                </a:solidFill>
                <a:latin typeface="Segoe UI Light"/>
                <a:ea typeface="Segoe UI Light"/>
                <a:cs typeface="Segoe UI Light"/>
              </a:rPr>
              <a:t>The New
Frontier</a:t>
            </a:r>
          </a:p>
          <a:p>
            <a:pPr algn="l">
              <a:spcBef>
                <a:spcPts val="0"/>
              </a:spcBef>
              <a:spcAft>
                <a:spcPts val="0"/>
              </a:spcAft>
            </a:pPr>
            <a:r>
              <a:rPr lang="en-US" sz="1800" b="0" i="0" dirty="0">
                <a:solidFill>
                  <a:srgbClr val="F4EFE6"/>
                </a:solidFill>
                <a:latin typeface="Segoe UI"/>
                <a:ea typeface="Segoe UI"/>
                <a:cs typeface="Segoe UI"/>
              </a:rPr>
              <a:t>AI is expanding what people and
organizations can accomplish.</a:t>
            </a:r>
          </a:p>
        </p:txBody>
      </p:sp>
      <p:sp>
        <p:nvSpPr>
          <p:cNvPr id="5" name="TextBox 4"/>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p:cNvGrpSpPr/>
        <p:nvPr/>
      </p:nvGrpSpPr>
      <p:grpSpPr>
        <a:xfrm>
          <a:off x="0" y="0"/>
          <a:ext cx="0" cy="0"/>
          <a:chOff x="0" y="0"/>
          <a:chExt cx="0" cy="0"/>
        </a:xfrm>
      </p:grpSpPr>
      <p:sp>
        <p:nvSpPr>
          <p:cNvPr id="3" name="TextBox 2"/>
          <p:cNvSpPr txBox="1"/>
          <p:nvPr/>
        </p:nvSpPr>
        <p:spPr>
          <a:xfrm>
            <a:off x="530352" y="475488"/>
            <a:ext cx="11155680" cy="530352"/>
          </a:xfrm>
          <a:prstGeom prst="rect">
            <a:avLst/>
          </a:prstGeom>
          <a:noFill/>
        </p:spPr>
        <p:txBody>
          <a:bodyPr wrap="square" lIns="0" tIns="18288" rIns="0" bIns="18288" anchor="t"/>
          <a:lstStyle/>
          <a:p>
            <a:pPr algn="l">
              <a:spcBef>
                <a:spcPts val="0"/>
              </a:spcBef>
              <a:spcAft>
                <a:spcPts val="0"/>
              </a:spcAft>
            </a:pPr>
            <a:r>
              <a:rPr lang="en-US" sz="3000" b="0" i="0" dirty="0">
                <a:solidFill>
                  <a:srgbClr val="122033"/>
                </a:solidFill>
                <a:latin typeface="Segoe UI Light"/>
                <a:ea typeface="Segoe UI Light"/>
                <a:cs typeface="Segoe UI Light"/>
              </a:rPr>
              <a:t>From AI adoption to Frontier Transformation</a:t>
            </a:r>
          </a:p>
        </p:txBody>
      </p:sp>
      <p:sp>
        <p:nvSpPr>
          <p:cNvPr id="4" name="Rectangle 3"/>
          <p:cNvSpPr/>
          <p:nvPr/>
        </p:nvSpPr>
        <p:spPr>
          <a:xfrm>
            <a:off x="566928" y="1097280"/>
            <a:ext cx="1463040" cy="16459"/>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ounded Rectangle 4"/>
          <p:cNvSpPr/>
          <p:nvPr/>
        </p:nvSpPr>
        <p:spPr>
          <a:xfrm>
            <a:off x="530352" y="1371600"/>
            <a:ext cx="3584448" cy="221284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Rectangle 5"/>
          <p:cNvSpPr/>
          <p:nvPr/>
        </p:nvSpPr>
        <p:spPr>
          <a:xfrm>
            <a:off x="530352" y="1371600"/>
            <a:ext cx="64008" cy="221284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786384" y="1572768"/>
            <a:ext cx="3145536" cy="1874519"/>
          </a:xfrm>
          <a:prstGeom prst="rect">
            <a:avLst/>
          </a:prstGeom>
          <a:noFill/>
        </p:spPr>
        <p:txBody>
          <a:bodyPr wrap="square" lIns="0" tIns="18288" rIns="0" bIns="18288" anchor="t"/>
          <a:lstStyle/>
          <a:p>
            <a:pPr algn="l">
              <a:spcBef>
                <a:spcPts val="0"/>
              </a:spcBef>
              <a:spcAft>
                <a:spcPts val="800"/>
              </a:spcAft>
            </a:pPr>
            <a:r>
              <a:rPr lang="en-US" sz="1200" b="0" i="0" spc="200" dirty="0">
                <a:solidFill>
                  <a:srgbClr val="9A7B45"/>
                </a:solidFill>
                <a:latin typeface="Segoe UI Semibold"/>
                <a:ea typeface="Segoe UI Semibold"/>
                <a:cs typeface="Segoe UI Semibold"/>
              </a:rPr>
              <a:t>STAGE 1</a:t>
            </a:r>
          </a:p>
          <a:p>
            <a:pPr algn="l">
              <a:spcBef>
                <a:spcPts val="0"/>
              </a:spcBef>
              <a:spcAft>
                <a:spcPts val="600"/>
              </a:spcAft>
            </a:pPr>
            <a:r>
              <a:rPr lang="en-US" sz="2000" b="0" i="0" dirty="0">
                <a:solidFill>
                  <a:srgbClr val="122033"/>
                </a:solidFill>
                <a:latin typeface="Segoe UI Semibold"/>
                <a:ea typeface="Segoe UI Semibold"/>
                <a:cs typeface="Segoe UI Semibold"/>
              </a:rPr>
              <a:t>AI Experimentation</a:t>
            </a:r>
          </a:p>
          <a:p>
            <a:pPr algn="l">
              <a:spcBef>
                <a:spcPts val="0"/>
              </a:spcBef>
              <a:spcAft>
                <a:spcPts val="0"/>
              </a:spcAft>
            </a:pPr>
            <a:r>
              <a:rPr lang="en-US" sz="1400" b="0" i="0" dirty="0">
                <a:solidFill>
                  <a:srgbClr val="5E6A75"/>
                </a:solidFill>
                <a:latin typeface="Segoe UI"/>
                <a:ea typeface="Segoe UI"/>
                <a:cs typeface="Segoe UI"/>
              </a:rPr>
              <a:t>Pilots, proofs of concept
and early curiosity</a:t>
            </a:r>
          </a:p>
        </p:txBody>
      </p:sp>
      <p:sp>
        <p:nvSpPr>
          <p:cNvPr id="8" name="Rounded Rectangle 7"/>
          <p:cNvSpPr/>
          <p:nvPr/>
        </p:nvSpPr>
        <p:spPr>
          <a:xfrm>
            <a:off x="4297680" y="1371600"/>
            <a:ext cx="3584448" cy="221284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Rectangle 8"/>
          <p:cNvSpPr/>
          <p:nvPr/>
        </p:nvSpPr>
        <p:spPr>
          <a:xfrm>
            <a:off x="4297680" y="1371600"/>
            <a:ext cx="64008" cy="221284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4553712" y="1572768"/>
            <a:ext cx="3145536" cy="1874519"/>
          </a:xfrm>
          <a:prstGeom prst="rect">
            <a:avLst/>
          </a:prstGeom>
          <a:noFill/>
        </p:spPr>
        <p:txBody>
          <a:bodyPr wrap="square" lIns="0" tIns="18288" rIns="0" bIns="18288" anchor="t"/>
          <a:lstStyle/>
          <a:p>
            <a:pPr algn="l">
              <a:spcBef>
                <a:spcPts val="0"/>
              </a:spcBef>
              <a:spcAft>
                <a:spcPts val="800"/>
              </a:spcAft>
            </a:pPr>
            <a:r>
              <a:rPr lang="en-US" sz="1200" b="0" i="0" spc="200" dirty="0">
                <a:solidFill>
                  <a:srgbClr val="9A7B45"/>
                </a:solidFill>
                <a:latin typeface="Segoe UI Semibold"/>
                <a:ea typeface="Segoe UI Semibold"/>
                <a:cs typeface="Segoe UI Semibold"/>
              </a:rPr>
              <a:t>STAGE 2</a:t>
            </a:r>
          </a:p>
          <a:p>
            <a:pPr algn="l">
              <a:spcBef>
                <a:spcPts val="0"/>
              </a:spcBef>
              <a:spcAft>
                <a:spcPts val="600"/>
              </a:spcAft>
            </a:pPr>
            <a:r>
              <a:rPr lang="en-US" sz="2000" b="0" i="0" dirty="0">
                <a:solidFill>
                  <a:srgbClr val="122033"/>
                </a:solidFill>
                <a:latin typeface="Segoe UI Semibold"/>
                <a:ea typeface="Segoe UI Semibold"/>
                <a:cs typeface="Segoe UI Semibold"/>
              </a:rPr>
              <a:t>AI Adoption</a:t>
            </a:r>
          </a:p>
          <a:p>
            <a:pPr algn="l">
              <a:spcBef>
                <a:spcPts val="0"/>
              </a:spcBef>
              <a:spcAft>
                <a:spcPts val="0"/>
              </a:spcAft>
            </a:pPr>
            <a:r>
              <a:rPr lang="en-US" sz="1400" b="0" i="0" dirty="0">
                <a:solidFill>
                  <a:srgbClr val="5E6A75"/>
                </a:solidFill>
                <a:latin typeface="Segoe UI"/>
                <a:ea typeface="Segoe UI"/>
                <a:cs typeface="Segoe UI"/>
              </a:rPr>
              <a:t>Copilots woven into
everyday work</a:t>
            </a:r>
          </a:p>
        </p:txBody>
      </p:sp>
      <p:sp>
        <p:nvSpPr>
          <p:cNvPr id="11" name="Rounded Rectangle 10"/>
          <p:cNvSpPr/>
          <p:nvPr/>
        </p:nvSpPr>
        <p:spPr>
          <a:xfrm>
            <a:off x="8065008" y="1371600"/>
            <a:ext cx="3584448" cy="2212848"/>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8065008" y="1371600"/>
            <a:ext cx="64008" cy="2212848"/>
          </a:xfrm>
          <a:prstGeom prst="rect">
            <a:avLst/>
          </a:prstGeom>
          <a:solidFill>
            <a:srgbClr val="7EC8E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321040" y="1572768"/>
            <a:ext cx="3145536" cy="1874519"/>
          </a:xfrm>
          <a:prstGeom prst="rect">
            <a:avLst/>
          </a:prstGeom>
          <a:noFill/>
        </p:spPr>
        <p:txBody>
          <a:bodyPr wrap="square" lIns="0" tIns="18288" rIns="0" bIns="18288" anchor="t"/>
          <a:lstStyle/>
          <a:p>
            <a:pPr algn="l">
              <a:spcBef>
                <a:spcPts val="0"/>
              </a:spcBef>
              <a:spcAft>
                <a:spcPts val="800"/>
              </a:spcAft>
            </a:pPr>
            <a:r>
              <a:rPr lang="en-US" sz="1200" b="0" i="0" spc="200" dirty="0">
                <a:solidFill>
                  <a:srgbClr val="7EC8E3"/>
                </a:solidFill>
                <a:latin typeface="Segoe UI Semibold"/>
                <a:ea typeface="Segoe UI Semibold"/>
                <a:cs typeface="Segoe UI Semibold"/>
              </a:rPr>
              <a:t>STAGE 3</a:t>
            </a:r>
          </a:p>
          <a:p>
            <a:pPr algn="l">
              <a:spcBef>
                <a:spcPts val="0"/>
              </a:spcBef>
              <a:spcAft>
                <a:spcPts val="600"/>
              </a:spcAft>
            </a:pPr>
            <a:r>
              <a:rPr lang="en-US" sz="2000" b="0" i="0" dirty="0">
                <a:solidFill>
                  <a:srgbClr val="FFFFFF"/>
                </a:solidFill>
                <a:latin typeface="Segoe UI Semibold"/>
                <a:ea typeface="Segoe UI Semibold"/>
                <a:cs typeface="Segoe UI Semibold"/>
              </a:rPr>
              <a:t>Frontier Transformation</a:t>
            </a:r>
          </a:p>
          <a:p>
            <a:pPr algn="l">
              <a:spcBef>
                <a:spcPts val="0"/>
              </a:spcBef>
              <a:spcAft>
                <a:spcPts val="0"/>
              </a:spcAft>
            </a:pPr>
            <a:r>
              <a:rPr lang="en-US" sz="1400" b="0" i="0" dirty="0">
                <a:solidFill>
                  <a:srgbClr val="D5DDE4"/>
                </a:solidFill>
                <a:latin typeface="Segoe UI"/>
                <a:ea typeface="Segoe UI"/>
                <a:cs typeface="Segoe UI"/>
              </a:rPr>
              <a:t>AI embedded in how the whole
organization operates</a:t>
            </a:r>
          </a:p>
        </p:txBody>
      </p:sp>
      <p:sp>
        <p:nvSpPr>
          <p:cNvPr id="14" name="Rounded Rectangle 13"/>
          <p:cNvSpPr/>
          <p:nvPr/>
        </p:nvSpPr>
        <p:spPr>
          <a:xfrm>
            <a:off x="566928" y="3913632"/>
            <a:ext cx="11064240" cy="2331720"/>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566928" y="3913632"/>
            <a:ext cx="64008" cy="2331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96112" y="4078224"/>
            <a:ext cx="10424160" cy="2011680"/>
          </a:xfrm>
          <a:prstGeom prst="rect">
            <a:avLst/>
          </a:prstGeom>
          <a:noFill/>
        </p:spPr>
        <p:txBody>
          <a:bodyPr wrap="square" lIns="0" tIns="18288" rIns="0" bIns="18288" anchor="t"/>
          <a:lstStyle/>
          <a:p>
            <a:pPr algn="l">
              <a:spcBef>
                <a:spcPts val="0"/>
              </a:spcBef>
              <a:spcAft>
                <a:spcPts val="800"/>
              </a:spcAft>
            </a:pPr>
            <a:r>
              <a:rPr lang="en-US" sz="2000" b="0" i="0" dirty="0">
                <a:solidFill>
                  <a:srgbClr val="122033"/>
                </a:solidFill>
                <a:latin typeface="Segoe UI Light"/>
                <a:ea typeface="Segoe UI Light"/>
                <a:cs typeface="Segoe UI Light"/>
              </a:rPr>
              <a:t>“Frontier Transformation is a holistic reimagining of business, aligning AI with human ambition to achieve an organization’s highest aspirations.”</a:t>
            </a:r>
          </a:p>
          <a:p>
            <a:pPr algn="l">
              <a:spcBef>
                <a:spcPts val="0"/>
              </a:spcBef>
              <a:spcAft>
                <a:spcPts val="1000"/>
              </a:spcAft>
            </a:pPr>
            <a:r>
              <a:rPr lang="en-US" sz="1300" b="0" i="0" dirty="0">
                <a:solidFill>
                  <a:srgbClr val="8A8175"/>
                </a:solidFill>
                <a:latin typeface="Segoe UI"/>
                <a:ea typeface="Segoe UI"/>
                <a:cs typeface="Segoe UI"/>
              </a:rPr>
              <a:t>— Microsoft, March 2026</a:t>
            </a:r>
          </a:p>
          <a:p>
            <a:pPr algn="l">
              <a:spcBef>
                <a:spcPts val="0"/>
              </a:spcBef>
              <a:spcAft>
                <a:spcPts val="0"/>
              </a:spcAft>
            </a:pPr>
            <a:r>
              <a:rPr lang="en-US" sz="1800" b="0" i="0" dirty="0">
                <a:solidFill>
                  <a:srgbClr val="0E2438"/>
                </a:solidFill>
                <a:latin typeface="Segoe UI Semibold"/>
                <a:ea typeface="Segoe UI Semibold"/>
                <a:cs typeface="Segoe UI Semibold"/>
              </a:rPr>
              <a:t>Human-led.     Agent-operated.</a:t>
            </a:r>
          </a:p>
        </p:txBody>
      </p:sp>
      <p:sp>
        <p:nvSpPr>
          <p:cNvPr id="17" name="TextBox 16"/>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8A97A1"/>
                </a:solidFill>
                <a:latin typeface="Segoe UI Semibold"/>
                <a:ea typeface="Segoe UI Semibold"/>
                <a:cs typeface="Segoe UI Semibold"/>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EF"/>
        </a:solidFill>
        <a:effectLst/>
      </p:bgPr>
    </p:bg>
    <p:spTree>
      <p:nvGrpSpPr>
        <p:cNvPr id="1" name=""/>
        <p:cNvGrpSpPr/>
        <p:nvPr/>
      </p:nvGrpSpPr>
      <p:grpSpPr>
        <a:xfrm>
          <a:off x="0" y="0"/>
          <a:ext cx="0" cy="0"/>
          <a:chOff x="0" y="0"/>
          <a:chExt cx="0" cy="0"/>
        </a:xfrm>
      </p:grpSpPr>
      <p:sp>
        <p:nvSpPr>
          <p:cNvPr id="3" name="TextBox 2"/>
          <p:cNvSpPr txBox="1"/>
          <p:nvPr/>
        </p:nvSpPr>
        <p:spPr>
          <a:xfrm>
            <a:off x="365760" y="365760"/>
            <a:ext cx="11338560" cy="438912"/>
          </a:xfrm>
          <a:prstGeom prst="rect">
            <a:avLst/>
          </a:prstGeom>
          <a:noFill/>
        </p:spPr>
        <p:txBody>
          <a:bodyPr wrap="square" lIns="0" tIns="18288" rIns="0" bIns="18288" anchor="t"/>
          <a:lstStyle/>
          <a:p>
            <a:pPr algn="l">
              <a:spcBef>
                <a:spcPts val="0"/>
              </a:spcBef>
              <a:spcAft>
                <a:spcPts val="0"/>
              </a:spcAft>
            </a:pPr>
            <a:r>
              <a:rPr lang="en-US" sz="3400" b="0" i="0" dirty="0">
                <a:solidFill>
                  <a:srgbClr val="122033"/>
                </a:solidFill>
                <a:latin typeface="Segoe UI Light"/>
                <a:ea typeface="Segoe UI Light"/>
                <a:cs typeface="Segoe UI Light"/>
              </a:rPr>
              <a:t>Imagine what’s possible</a:t>
            </a:r>
          </a:p>
        </p:txBody>
      </p:sp>
      <p:pic>
        <p:nvPicPr>
          <p:cNvPr id="4" name="Picture 3" descr="An engineer with a prototype in morning light."/>
          <p:cNvPicPr>
            <a:picLocks noChangeAspect="1"/>
          </p:cNvPicPr>
          <p:nvPr/>
        </p:nvPicPr>
        <p:blipFill>
          <a:blip r:embed="rId3"/>
          <a:stretch>
            <a:fillRect/>
          </a:stretch>
        </p:blipFill>
        <p:spPr>
          <a:xfrm>
            <a:off x="256032" y="960120"/>
            <a:ext cx="2851403" cy="4617720"/>
          </a:xfrm>
          <a:prstGeom prst="rect">
            <a:avLst/>
          </a:prstGeom>
        </p:spPr>
      </p:pic>
      <p:sp>
        <p:nvSpPr>
          <p:cNvPr id="5" name="Rectangle 4"/>
          <p:cNvSpPr/>
          <p:nvPr/>
        </p:nvSpPr>
        <p:spPr>
          <a:xfrm>
            <a:off x="256032" y="4462272"/>
            <a:ext cx="2851403" cy="1115568"/>
          </a:xfrm>
          <a:prstGeom prst="rect">
            <a:avLst/>
          </a:prstGeom>
          <a:gradFill rotWithShape="1">
            <a:gsLst>
              <a:gs pos="0">
                <a:srgbClr val="071422">
                  <a:alpha val="0"/>
                </a:srgbClr>
              </a:gs>
              <a:gs pos="35000">
                <a:srgbClr val="071422">
                  <a:alpha val="55000"/>
                </a:srgbClr>
              </a:gs>
              <a:gs pos="100000">
                <a:srgbClr val="071422">
                  <a:alpha val="88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402336" y="4709159"/>
            <a:ext cx="2577083" cy="749808"/>
          </a:xfrm>
          <a:prstGeom prst="rect">
            <a:avLst/>
          </a:prstGeom>
          <a:noFill/>
        </p:spPr>
        <p:txBody>
          <a:bodyPr wrap="square" lIns="0" tIns="18288" rIns="0" bIns="18288" anchor="t"/>
          <a:lstStyle/>
          <a:p>
            <a:pPr algn="l">
              <a:spcBef>
                <a:spcPts val="0"/>
              </a:spcBef>
              <a:spcAft>
                <a:spcPts val="200"/>
              </a:spcAft>
            </a:pPr>
            <a:r>
              <a:rPr lang="en-US" sz="1300" b="0" i="0" spc="200" dirty="0">
                <a:solidFill>
                  <a:srgbClr val="E4C48A"/>
                </a:solidFill>
                <a:latin typeface="Segoe UI Semibold"/>
                <a:ea typeface="Segoe UI Semibold"/>
                <a:cs typeface="Segoe UI Semibold"/>
              </a:rPr>
              <a:t>CREATE</a:t>
            </a:r>
          </a:p>
          <a:p>
            <a:pPr algn="l">
              <a:spcBef>
                <a:spcPts val="0"/>
              </a:spcBef>
              <a:spcAft>
                <a:spcPts val="0"/>
              </a:spcAft>
            </a:pPr>
            <a:r>
              <a:rPr lang="en-US" sz="1300" b="0" i="0" dirty="0">
                <a:solidFill>
                  <a:srgbClr val="FFFFFF"/>
                </a:solidFill>
                <a:latin typeface="Segoe UI"/>
                <a:ea typeface="Segoe UI"/>
                <a:cs typeface="Segoe UI"/>
              </a:rPr>
              <a:t>Engineers build and ship faster</a:t>
            </a:r>
          </a:p>
        </p:txBody>
      </p:sp>
      <p:pic>
        <p:nvPicPr>
          <p:cNvPr id="7" name="Picture 6" descr="A researcher before a luminous discovery."/>
          <p:cNvPicPr>
            <a:picLocks noChangeAspect="1"/>
          </p:cNvPicPr>
          <p:nvPr/>
        </p:nvPicPr>
        <p:blipFill>
          <a:blip r:embed="rId4"/>
          <a:stretch>
            <a:fillRect/>
          </a:stretch>
        </p:blipFill>
        <p:spPr>
          <a:xfrm>
            <a:off x="3198875" y="960120"/>
            <a:ext cx="2851403" cy="4617720"/>
          </a:xfrm>
          <a:prstGeom prst="rect">
            <a:avLst/>
          </a:prstGeom>
        </p:spPr>
      </p:pic>
      <p:sp>
        <p:nvSpPr>
          <p:cNvPr id="8" name="Rectangle 7"/>
          <p:cNvSpPr/>
          <p:nvPr/>
        </p:nvSpPr>
        <p:spPr>
          <a:xfrm>
            <a:off x="3198875" y="4462272"/>
            <a:ext cx="2851403" cy="1115568"/>
          </a:xfrm>
          <a:prstGeom prst="rect">
            <a:avLst/>
          </a:prstGeom>
          <a:gradFill rotWithShape="1">
            <a:gsLst>
              <a:gs pos="0">
                <a:srgbClr val="071422">
                  <a:alpha val="0"/>
                </a:srgbClr>
              </a:gs>
              <a:gs pos="35000">
                <a:srgbClr val="071422">
                  <a:alpha val="55000"/>
                </a:srgbClr>
              </a:gs>
              <a:gs pos="100000">
                <a:srgbClr val="071422">
                  <a:alpha val="88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345179" y="4709159"/>
            <a:ext cx="2577083" cy="749808"/>
          </a:xfrm>
          <a:prstGeom prst="rect">
            <a:avLst/>
          </a:prstGeom>
          <a:noFill/>
        </p:spPr>
        <p:txBody>
          <a:bodyPr wrap="square" lIns="0" tIns="18288" rIns="0" bIns="18288" anchor="t"/>
          <a:lstStyle/>
          <a:p>
            <a:pPr algn="l">
              <a:spcBef>
                <a:spcPts val="0"/>
              </a:spcBef>
              <a:spcAft>
                <a:spcPts val="200"/>
              </a:spcAft>
            </a:pPr>
            <a:r>
              <a:rPr lang="en-US" sz="1300" b="0" i="0" spc="200" dirty="0">
                <a:solidFill>
                  <a:srgbClr val="E4C48A"/>
                </a:solidFill>
                <a:latin typeface="Segoe UI Semibold"/>
                <a:ea typeface="Segoe UI Semibold"/>
                <a:cs typeface="Segoe UI Semibold"/>
              </a:rPr>
              <a:t>DISCOVER</a:t>
            </a:r>
          </a:p>
          <a:p>
            <a:pPr algn="l">
              <a:spcBef>
                <a:spcPts val="0"/>
              </a:spcBef>
              <a:spcAft>
                <a:spcPts val="0"/>
              </a:spcAft>
            </a:pPr>
            <a:r>
              <a:rPr lang="en-US" sz="1300" b="0" i="0" dirty="0">
                <a:solidFill>
                  <a:srgbClr val="FFFFFF"/>
                </a:solidFill>
                <a:latin typeface="Segoe UI"/>
                <a:ea typeface="Segoe UI"/>
                <a:cs typeface="Segoe UI"/>
              </a:rPr>
              <a:t>Research finds answers sooner</a:t>
            </a:r>
          </a:p>
        </p:txBody>
      </p:sp>
      <p:pic>
        <p:nvPicPr>
          <p:cNvPr id="10" name="Picture 9" descr="A service lead fully present with a customer."/>
          <p:cNvPicPr>
            <a:picLocks noChangeAspect="1"/>
          </p:cNvPicPr>
          <p:nvPr/>
        </p:nvPicPr>
        <p:blipFill>
          <a:blip r:embed="rId5"/>
          <a:stretch>
            <a:fillRect/>
          </a:stretch>
        </p:blipFill>
        <p:spPr>
          <a:xfrm>
            <a:off x="6141719" y="960120"/>
            <a:ext cx="2851403" cy="4617720"/>
          </a:xfrm>
          <a:prstGeom prst="rect">
            <a:avLst/>
          </a:prstGeom>
        </p:spPr>
      </p:pic>
      <p:sp>
        <p:nvSpPr>
          <p:cNvPr id="11" name="Rectangle 10"/>
          <p:cNvSpPr/>
          <p:nvPr/>
        </p:nvSpPr>
        <p:spPr>
          <a:xfrm>
            <a:off x="6141719" y="4462272"/>
            <a:ext cx="2851403" cy="1115568"/>
          </a:xfrm>
          <a:prstGeom prst="rect">
            <a:avLst/>
          </a:prstGeom>
          <a:gradFill rotWithShape="1">
            <a:gsLst>
              <a:gs pos="0">
                <a:srgbClr val="071422">
                  <a:alpha val="0"/>
                </a:srgbClr>
              </a:gs>
              <a:gs pos="35000">
                <a:srgbClr val="071422">
                  <a:alpha val="55000"/>
                </a:srgbClr>
              </a:gs>
              <a:gs pos="100000">
                <a:srgbClr val="071422">
                  <a:alpha val="88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288023" y="4709159"/>
            <a:ext cx="2577083" cy="749808"/>
          </a:xfrm>
          <a:prstGeom prst="rect">
            <a:avLst/>
          </a:prstGeom>
          <a:noFill/>
        </p:spPr>
        <p:txBody>
          <a:bodyPr wrap="square" lIns="0" tIns="18288" rIns="0" bIns="18288" anchor="t"/>
          <a:lstStyle/>
          <a:p>
            <a:pPr algn="l">
              <a:spcBef>
                <a:spcPts val="0"/>
              </a:spcBef>
              <a:spcAft>
                <a:spcPts val="200"/>
              </a:spcAft>
            </a:pPr>
            <a:r>
              <a:rPr lang="en-US" sz="1300" b="0" i="0" spc="200" dirty="0">
                <a:solidFill>
                  <a:srgbClr val="E4C48A"/>
                </a:solidFill>
                <a:latin typeface="Segoe UI Semibold"/>
                <a:ea typeface="Segoe UI Semibold"/>
                <a:cs typeface="Segoe UI Semibold"/>
              </a:rPr>
              <a:t>SERVE</a:t>
            </a:r>
          </a:p>
          <a:p>
            <a:pPr algn="l">
              <a:spcBef>
                <a:spcPts val="0"/>
              </a:spcBef>
              <a:spcAft>
                <a:spcPts val="0"/>
              </a:spcAft>
            </a:pPr>
            <a:r>
              <a:rPr lang="en-US" sz="1300" b="0" i="0" dirty="0">
                <a:solidFill>
                  <a:srgbClr val="FFFFFF"/>
                </a:solidFill>
                <a:latin typeface="Segoe UI"/>
                <a:ea typeface="Segoe UI"/>
                <a:cs typeface="Segoe UI"/>
              </a:rPr>
              <a:t>Every customer gets full context</a:t>
            </a:r>
          </a:p>
        </p:txBody>
      </p:sp>
      <p:pic>
        <p:nvPicPr>
          <p:cNvPr id="13" name="Picture 12" descr="A plant lead above a bright factory line."/>
          <p:cNvPicPr>
            <a:picLocks noChangeAspect="1"/>
          </p:cNvPicPr>
          <p:nvPr/>
        </p:nvPicPr>
        <p:blipFill>
          <a:blip r:embed="rId6"/>
          <a:stretch>
            <a:fillRect/>
          </a:stretch>
        </p:blipFill>
        <p:spPr>
          <a:xfrm>
            <a:off x="9084563" y="960120"/>
            <a:ext cx="2851403" cy="4617720"/>
          </a:xfrm>
          <a:prstGeom prst="rect">
            <a:avLst/>
          </a:prstGeom>
        </p:spPr>
      </p:pic>
      <p:sp>
        <p:nvSpPr>
          <p:cNvPr id="14" name="Rectangle 13"/>
          <p:cNvSpPr/>
          <p:nvPr/>
        </p:nvSpPr>
        <p:spPr>
          <a:xfrm>
            <a:off x="9084563" y="4462272"/>
            <a:ext cx="2851403" cy="1115568"/>
          </a:xfrm>
          <a:prstGeom prst="rect">
            <a:avLst/>
          </a:prstGeom>
          <a:gradFill rotWithShape="1">
            <a:gsLst>
              <a:gs pos="0">
                <a:srgbClr val="071422">
                  <a:alpha val="0"/>
                </a:srgbClr>
              </a:gs>
              <a:gs pos="35000">
                <a:srgbClr val="071422">
                  <a:alpha val="55000"/>
                </a:srgbClr>
              </a:gs>
              <a:gs pos="100000">
                <a:srgbClr val="071422">
                  <a:alpha val="88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230867" y="4709159"/>
            <a:ext cx="2577083" cy="749808"/>
          </a:xfrm>
          <a:prstGeom prst="rect">
            <a:avLst/>
          </a:prstGeom>
          <a:noFill/>
        </p:spPr>
        <p:txBody>
          <a:bodyPr wrap="square" lIns="0" tIns="18288" rIns="0" bIns="18288" anchor="t"/>
          <a:lstStyle/>
          <a:p>
            <a:pPr algn="l">
              <a:spcBef>
                <a:spcPts val="0"/>
              </a:spcBef>
              <a:spcAft>
                <a:spcPts val="200"/>
              </a:spcAft>
            </a:pPr>
            <a:r>
              <a:rPr lang="en-US" sz="1300" b="0" i="0" spc="200" dirty="0">
                <a:solidFill>
                  <a:srgbClr val="E4C48A"/>
                </a:solidFill>
                <a:latin typeface="Segoe UI Semibold"/>
                <a:ea typeface="Segoe UI Semibold"/>
                <a:cs typeface="Segoe UI Semibold"/>
              </a:rPr>
              <a:t>GROW</a:t>
            </a:r>
          </a:p>
          <a:p>
            <a:pPr algn="l">
              <a:spcBef>
                <a:spcPts val="0"/>
              </a:spcBef>
              <a:spcAft>
                <a:spcPts val="0"/>
              </a:spcAft>
            </a:pPr>
            <a:r>
              <a:rPr lang="en-US" sz="1300" b="0" i="0" dirty="0">
                <a:solidFill>
                  <a:srgbClr val="FFFFFF"/>
                </a:solidFill>
                <a:latin typeface="Segoe UI"/>
                <a:ea typeface="Segoe UI"/>
                <a:cs typeface="Segoe UI"/>
              </a:rPr>
              <a:t>Smarter, more resilient operations</a:t>
            </a:r>
          </a:p>
        </p:txBody>
      </p:sp>
      <p:sp>
        <p:nvSpPr>
          <p:cNvPr id="16" name="Rectangle 15"/>
          <p:cNvSpPr/>
          <p:nvPr/>
        </p:nvSpPr>
        <p:spPr>
          <a:xfrm>
            <a:off x="0" y="5687568"/>
            <a:ext cx="12191999" cy="1170432"/>
          </a:xfrm>
          <a:prstGeom prst="rect">
            <a:avLst/>
          </a:prstGeom>
          <a:solidFill>
            <a:srgbClr val="1220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40080" y="5687568"/>
            <a:ext cx="10911839" cy="1170432"/>
          </a:xfrm>
          <a:prstGeom prst="rect">
            <a:avLst/>
          </a:prstGeom>
          <a:noFill/>
        </p:spPr>
        <p:txBody>
          <a:bodyPr wrap="square" lIns="0" tIns="18288" rIns="0" bIns="18288" anchor="ctr"/>
          <a:lstStyle/>
          <a:p>
            <a:pPr algn="ctr">
              <a:spcBef>
                <a:spcPts val="0"/>
              </a:spcBef>
              <a:spcAft>
                <a:spcPts val="0"/>
              </a:spcAft>
            </a:pPr>
            <a:r>
              <a:rPr lang="en-US" sz="2200" b="0" i="0" dirty="0">
                <a:solidFill>
                  <a:srgbClr val="FFFFFF"/>
                </a:solidFill>
                <a:latin typeface="Segoe UI Light"/>
                <a:ea typeface="Segoe UI Light"/>
                <a:cs typeface="Segoe UI Light"/>
              </a:rPr>
              <a:t>What could your organization accomplish if intelligence
were available everywhere work happens?</a:t>
            </a:r>
          </a:p>
        </p:txBody>
      </p:sp>
      <p:sp>
        <p:nvSpPr>
          <p:cNvPr id="18" name="TextBox 17"/>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422"/>
        </a:solidFill>
        <a:effectLst/>
      </p:bgPr>
    </p:bg>
    <p:spTree>
      <p:nvGrpSpPr>
        <p:cNvPr id="1" name=""/>
        <p:cNvGrpSpPr/>
        <p:nvPr/>
      </p:nvGrpSpPr>
      <p:grpSpPr>
        <a:xfrm>
          <a:off x="0" y="0"/>
          <a:ext cx="0" cy="0"/>
          <a:chOff x="0" y="0"/>
          <a:chExt cx="0" cy="0"/>
        </a:xfrm>
      </p:grpSpPr>
      <p:pic>
        <p:nvPicPr>
          <p:cNvPr id="2" name="Picture 1" descr="Gold and cyan light braiding into one horizon."/>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0" y="0"/>
            <a:ext cx="7406640" cy="6858000"/>
          </a:xfrm>
          <a:prstGeom prst="rect">
            <a:avLst/>
          </a:prstGeom>
          <a:gradFill rotWithShape="1">
            <a:gsLst>
              <a:gs pos="0">
                <a:srgbClr val="07111C">
                  <a:alpha val="92000"/>
                </a:srgbClr>
              </a:gs>
              <a:gs pos="70000">
                <a:srgbClr val="07111C">
                  <a:alpha val="50000"/>
                </a:srgbClr>
              </a:gs>
              <a:gs pos="100000">
                <a:srgbClr val="07111C">
                  <a:alpha val="0"/>
                </a:srgbClr>
              </a:gs>
            </a:gsLst>
            <a:lin ang="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21792" y="960120"/>
            <a:ext cx="6492240" cy="5029200"/>
          </a:xfrm>
          <a:prstGeom prst="rect">
            <a:avLst/>
          </a:prstGeom>
          <a:noFill/>
        </p:spPr>
        <p:txBody>
          <a:bodyPr wrap="square" lIns="0" tIns="18288" rIns="0" bIns="18288" anchor="t"/>
          <a:lstStyle/>
          <a:p>
            <a:pPr algn="l">
              <a:spcBef>
                <a:spcPts val="0"/>
              </a:spcBef>
              <a:spcAft>
                <a:spcPts val="1400"/>
              </a:spcAft>
            </a:pPr>
            <a:r>
              <a:rPr lang="en-US" sz="1800" b="0" i="0" dirty="0">
                <a:solidFill>
                  <a:srgbClr val="F3EFE6"/>
                </a:solidFill>
                <a:latin typeface="Segoe UI"/>
                <a:ea typeface="Segoe UI"/>
                <a:cs typeface="Segoe UI"/>
              </a:rPr>
              <a:t>The frontier requires two things</a:t>
            </a:r>
          </a:p>
          <a:p>
            <a:pPr algn="l">
              <a:lnSpc>
                <a:spcPct val="90000"/>
              </a:lnSpc>
              <a:spcBef>
                <a:spcPts val="0"/>
              </a:spcBef>
              <a:spcAft>
                <a:spcPts val="0"/>
              </a:spcAft>
            </a:pPr>
            <a:r>
              <a:rPr lang="en-US" sz="5400" b="0" i="0" dirty="0">
                <a:solidFill>
                  <a:srgbClr val="FFFFFF"/>
                </a:solidFill>
                <a:latin typeface="Segoe UI Light"/>
                <a:ea typeface="Segoe UI Light"/>
                <a:cs typeface="Segoe UI Light"/>
              </a:rPr>
              <a:t>Intelligence</a:t>
            </a:r>
          </a:p>
          <a:p>
            <a:pPr algn="l">
              <a:spcBef>
                <a:spcPts val="0"/>
              </a:spcBef>
              <a:spcAft>
                <a:spcPts val="1600"/>
              </a:spcAft>
            </a:pPr>
            <a:r>
              <a:rPr lang="en-US" sz="4800" b="0" i="0" dirty="0">
                <a:solidFill>
                  <a:srgbClr val="E4C48A"/>
                </a:solidFill>
                <a:latin typeface="Segoe UI Light"/>
                <a:ea typeface="Segoe UI Light"/>
                <a:cs typeface="Segoe UI Light"/>
              </a:rPr>
              <a:t>+   </a:t>
            </a:r>
            <a:r>
              <a:rPr lang="en-US" sz="5400" b="0" i="0" dirty="0">
                <a:solidFill>
                  <a:srgbClr val="FFFFFF"/>
                </a:solidFill>
                <a:latin typeface="Segoe UI Light"/>
                <a:ea typeface="Segoe UI Light"/>
                <a:cs typeface="Segoe UI Light"/>
              </a:rPr>
              <a:t>Trust</a:t>
            </a:r>
          </a:p>
          <a:p>
            <a:pPr algn="l">
              <a:spcBef>
                <a:spcPts val="0"/>
              </a:spcBef>
              <a:spcAft>
                <a:spcPts val="1400"/>
              </a:spcAft>
            </a:pPr>
            <a:r>
              <a:rPr lang="en-US" sz="1600" b="0" i="0" dirty="0">
                <a:solidFill>
                  <a:srgbClr val="F4EFE6"/>
                </a:solidFill>
                <a:latin typeface="Segoe UI"/>
                <a:ea typeface="Segoe UI"/>
                <a:cs typeface="Segoe UI"/>
              </a:rPr>
              <a:t>Microsoft names Intelligence + Trust
the two essential elements of
Frontier Transformation.</a:t>
            </a:r>
          </a:p>
          <a:p>
            <a:pPr algn="l">
              <a:spcBef>
                <a:spcPts val="0"/>
              </a:spcBef>
              <a:spcAft>
                <a:spcPts val="0"/>
              </a:spcAft>
            </a:pPr>
            <a:r>
              <a:rPr lang="en-US" sz="2600" b="0" i="0" dirty="0">
                <a:solidFill>
                  <a:srgbClr val="9ADCF2"/>
                </a:solidFill>
                <a:latin typeface="Segoe UI Semibold"/>
                <a:ea typeface="Segoe UI Semibold"/>
                <a:cs typeface="Segoe UI Semibold"/>
              </a:rPr>
              <a:t>Trust starts with security.</a:t>
            </a:r>
          </a:p>
        </p:txBody>
      </p:sp>
      <p:sp>
        <p:nvSpPr>
          <p:cNvPr id="5" name="TextBox 4"/>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422"/>
        </a:solidFill>
        <a:effectLst/>
      </p:bgPr>
    </p:bg>
    <p:spTree>
      <p:nvGrpSpPr>
        <p:cNvPr id="1" name=""/>
        <p:cNvGrpSpPr/>
        <p:nvPr/>
      </p:nvGrpSpPr>
      <p:grpSpPr>
        <a:xfrm>
          <a:off x="0" y="0"/>
          <a:ext cx="0" cy="0"/>
          <a:chOff x="0" y="0"/>
          <a:chExt cx="0" cy="0"/>
        </a:xfrm>
      </p:grpSpPr>
      <p:pic>
        <p:nvPicPr>
          <p:cNvPr id="2" name="Picture 1" descr="A person walking a bridge from canyon shadow into open light."/>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0" y="0"/>
            <a:ext cx="12191999" cy="2331720"/>
          </a:xfrm>
          <a:prstGeom prst="rect">
            <a:avLst/>
          </a:prstGeom>
          <a:gradFill rotWithShape="1">
            <a:gsLst>
              <a:gs pos="0">
                <a:srgbClr val="F7F4EF">
                  <a:alpha val="72000"/>
                </a:srgbClr>
              </a:gs>
              <a:gs pos="72000">
                <a:srgbClr val="F7F4EF">
                  <a:alpha val="20000"/>
                </a:srgbClr>
              </a:gs>
              <a:gs pos="100000">
                <a:srgbClr val="F7F4EF">
                  <a:alpha val="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365760" y="292608"/>
            <a:ext cx="11460479" cy="365760"/>
          </a:xfrm>
          <a:prstGeom prst="rect">
            <a:avLst/>
          </a:prstGeom>
          <a:noFill/>
        </p:spPr>
        <p:txBody>
          <a:bodyPr wrap="square" lIns="0" tIns="18288" rIns="0" bIns="18288" anchor="t"/>
          <a:lstStyle/>
          <a:p>
            <a:pPr algn="ctr">
              <a:spcBef>
                <a:spcPts val="0"/>
              </a:spcBef>
              <a:spcAft>
                <a:spcPts val="0"/>
              </a:spcAft>
            </a:pPr>
            <a:r>
              <a:rPr lang="en-US" sz="2600" b="0" i="0" dirty="0">
                <a:solidFill>
                  <a:srgbClr val="122033"/>
                </a:solidFill>
                <a:latin typeface="Segoe UI Light"/>
                <a:ea typeface="Segoe UI Light"/>
                <a:cs typeface="Segoe UI Light"/>
              </a:rPr>
              <a:t>Rethink security</a:t>
            </a:r>
          </a:p>
        </p:txBody>
      </p:sp>
      <p:sp>
        <p:nvSpPr>
          <p:cNvPr id="6" name="Rounded Rectangle 5"/>
          <p:cNvSpPr/>
          <p:nvPr/>
        </p:nvSpPr>
        <p:spPr>
          <a:xfrm>
            <a:off x="365760" y="804672"/>
            <a:ext cx="4709160" cy="1115568"/>
          </a:xfrm>
          <a:prstGeom prst="roundRect">
            <a:avLst>
              <a:gd name="adj" fmla="val 8000"/>
            </a:avLst>
          </a:prstGeom>
          <a:solidFill>
            <a:srgbClr val="FFFFFF">
              <a:alpha val="92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530352" y="877824"/>
            <a:ext cx="4434840" cy="932688"/>
          </a:xfrm>
          <a:prstGeom prst="rect">
            <a:avLst/>
          </a:prstGeom>
          <a:noFill/>
        </p:spPr>
        <p:txBody>
          <a:bodyPr wrap="square" lIns="0" tIns="18288" rIns="0" bIns="18288" anchor="t"/>
          <a:lstStyle/>
          <a:p>
            <a:pPr algn="l">
              <a:spcBef>
                <a:spcPts val="0"/>
              </a:spcBef>
              <a:spcAft>
                <a:spcPts val="200"/>
              </a:spcAft>
            </a:pPr>
            <a:r>
              <a:rPr lang="en-US" sz="1200" b="0" i="0" spc="160" dirty="0">
                <a:solidFill>
                  <a:srgbClr val="6A6258"/>
                </a:solidFill>
                <a:latin typeface="Segoe UI Semibold"/>
                <a:ea typeface="Segoe UI Semibold"/>
                <a:cs typeface="Segoe UI Semibold"/>
              </a:rPr>
              <a:t>OLD PERCEPTION</a:t>
            </a:r>
          </a:p>
          <a:p>
            <a:pPr algn="l">
              <a:spcBef>
                <a:spcPts val="0"/>
              </a:spcBef>
              <a:spcAft>
                <a:spcPts val="0"/>
              </a:spcAft>
            </a:pPr>
            <a:r>
              <a:rPr lang="en-US" sz="1800" b="0" i="0" dirty="0">
                <a:solidFill>
                  <a:srgbClr val="1C2430"/>
                </a:solidFill>
                <a:latin typeface="Segoe UI Light"/>
                <a:ea typeface="Segoe UI Light"/>
                <a:cs typeface="Segoe UI Light"/>
              </a:rPr>
              <a:t>Security prevents us from doing something.</a:t>
            </a:r>
          </a:p>
        </p:txBody>
      </p:sp>
      <p:sp>
        <p:nvSpPr>
          <p:cNvPr id="8" name="Rounded Rectangle 7"/>
          <p:cNvSpPr/>
          <p:nvPr/>
        </p:nvSpPr>
        <p:spPr>
          <a:xfrm>
            <a:off x="7114032" y="804672"/>
            <a:ext cx="4709160" cy="1115568"/>
          </a:xfrm>
          <a:prstGeom prst="roundRect">
            <a:avLst>
              <a:gd name="adj" fmla="val 8000"/>
            </a:avLst>
          </a:prstGeom>
          <a:solidFill>
            <a:srgbClr val="FFFFFF">
              <a:alpha val="94000"/>
            </a:srgbClr>
          </a:solidFill>
          <a:ln w="15875">
            <a:solidFill>
              <a:srgbClr val="7EC8E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278624" y="877824"/>
            <a:ext cx="4434840" cy="932688"/>
          </a:xfrm>
          <a:prstGeom prst="rect">
            <a:avLst/>
          </a:prstGeom>
          <a:noFill/>
        </p:spPr>
        <p:txBody>
          <a:bodyPr wrap="square" lIns="0" tIns="18288" rIns="0" bIns="18288" anchor="t"/>
          <a:lstStyle/>
          <a:p>
            <a:pPr algn="l">
              <a:spcBef>
                <a:spcPts val="0"/>
              </a:spcBef>
              <a:spcAft>
                <a:spcPts val="200"/>
              </a:spcAft>
            </a:pPr>
            <a:r>
              <a:rPr lang="en-US" sz="1200" b="0" i="0" spc="160" dirty="0">
                <a:solidFill>
                  <a:srgbClr val="0E6F8F"/>
                </a:solidFill>
                <a:latin typeface="Segoe UI Semibold"/>
                <a:ea typeface="Segoe UI Semibold"/>
                <a:cs typeface="Segoe UI Semibold"/>
              </a:rPr>
              <a:t>FRONTIER REALITY</a:t>
            </a:r>
          </a:p>
          <a:p>
            <a:pPr algn="l">
              <a:spcBef>
                <a:spcPts val="0"/>
              </a:spcBef>
              <a:spcAft>
                <a:spcPts val="0"/>
              </a:spcAft>
            </a:pPr>
            <a:r>
              <a:rPr lang="en-US" sz="1800" b="0" i="0" dirty="0">
                <a:solidFill>
                  <a:srgbClr val="102033"/>
                </a:solidFill>
                <a:latin typeface="Segoe UI Light"/>
                <a:ea typeface="Segoe UI Light"/>
                <a:cs typeface="Segoe UI Light"/>
              </a:rPr>
              <a:t>Security gives us the confidence to do something.</a:t>
            </a:r>
          </a:p>
        </p:txBody>
      </p:sp>
      <p:sp>
        <p:nvSpPr>
          <p:cNvPr id="10" name="Rectangle 9"/>
          <p:cNvSpPr/>
          <p:nvPr/>
        </p:nvSpPr>
        <p:spPr>
          <a:xfrm>
            <a:off x="0" y="5989320"/>
            <a:ext cx="12191999" cy="868680"/>
          </a:xfrm>
          <a:prstGeom prst="rect">
            <a:avLst/>
          </a:prstGeom>
          <a:solidFill>
            <a:srgbClr val="071422">
              <a:alpha val="90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65760" y="5989320"/>
            <a:ext cx="11460479" cy="868680"/>
          </a:xfrm>
          <a:prstGeom prst="rect">
            <a:avLst/>
          </a:prstGeom>
          <a:noFill/>
        </p:spPr>
        <p:txBody>
          <a:bodyPr wrap="square" lIns="0" tIns="18288" rIns="0" bIns="18288" anchor="ctr"/>
          <a:lstStyle/>
          <a:p>
            <a:pPr algn="ctr">
              <a:spcBef>
                <a:spcPts val="0"/>
              </a:spcBef>
              <a:spcAft>
                <a:spcPts val="0"/>
              </a:spcAft>
            </a:pPr>
            <a:r>
              <a:rPr lang="en-US" sz="2400" b="0" i="0" dirty="0">
                <a:solidFill>
                  <a:srgbClr val="FFFFFF"/>
                </a:solidFill>
                <a:latin typeface="Segoe UI Light"/>
                <a:ea typeface="Segoe UI Light"/>
                <a:cs typeface="Segoe UI Light"/>
              </a:rPr>
              <a:t>Security isn’t the brake.   </a:t>
            </a:r>
            <a:r>
              <a:rPr lang="en-US" sz="2400" b="0" i="0" dirty="0">
                <a:solidFill>
                  <a:srgbClr val="9ADCF2"/>
                </a:solidFill>
                <a:latin typeface="Segoe UI Semibold"/>
                <a:ea typeface="Segoe UI Semibold"/>
                <a:cs typeface="Segoe UI Semibold"/>
              </a:rPr>
              <a:t>It’s the confidence to accelerate.</a:t>
            </a:r>
          </a:p>
        </p:txBody>
      </p:sp>
      <p:sp>
        <p:nvSpPr>
          <p:cNvPr id="12" name="TextBox 11"/>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422"/>
        </a:solidFill>
        <a:effectLst/>
      </p:bgPr>
    </p:bg>
    <p:spTree>
      <p:nvGrpSpPr>
        <p:cNvPr id="1" name=""/>
        <p:cNvGrpSpPr/>
        <p:nvPr/>
      </p:nvGrpSpPr>
      <p:grpSpPr>
        <a:xfrm>
          <a:off x="0" y="0"/>
          <a:ext cx="0" cy="0"/>
          <a:chOff x="0" y="0"/>
          <a:chExt cx="0" cy="0"/>
        </a:xfrm>
      </p:grpSpPr>
      <p:pic>
        <p:nvPicPr>
          <p:cNvPr id="2" name="Picture 1" descr="Colleagues in a glass atrium, light moving through the air like fabric."/>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0" y="0"/>
            <a:ext cx="6949440" cy="4297680"/>
          </a:xfrm>
          <a:prstGeom prst="rect">
            <a:avLst/>
          </a:prstGeom>
          <a:gradFill rotWithShape="1">
            <a:gsLst>
              <a:gs pos="0">
                <a:srgbClr val="07111C">
                  <a:alpha val="82000"/>
                </a:srgbClr>
              </a:gs>
              <a:gs pos="62000">
                <a:srgbClr val="07111C">
                  <a:alpha val="35000"/>
                </a:srgbClr>
              </a:gs>
              <a:gs pos="100000">
                <a:srgbClr val="07111C">
                  <a:alpha val="0"/>
                </a:srgbClr>
              </a:gs>
            </a:gsLst>
            <a:lin ang="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502920" y="292608"/>
            <a:ext cx="6217920" cy="3566160"/>
          </a:xfrm>
          <a:prstGeom prst="rect">
            <a:avLst/>
          </a:prstGeom>
          <a:noFill/>
        </p:spPr>
        <p:txBody>
          <a:bodyPr wrap="square" lIns="0" tIns="18288" rIns="0" bIns="18288" anchor="t"/>
          <a:lstStyle/>
          <a:p>
            <a:pPr algn="l">
              <a:lnSpc>
                <a:spcPct val="90000"/>
              </a:lnSpc>
              <a:spcBef>
                <a:spcPts val="0"/>
              </a:spcBef>
              <a:spcAft>
                <a:spcPts val="0"/>
              </a:spcAft>
            </a:pPr>
            <a:r>
              <a:rPr lang="en-US" sz="4200" b="0" i="0" dirty="0">
                <a:solidFill>
                  <a:srgbClr val="FFFFFF"/>
                </a:solidFill>
                <a:latin typeface="Segoe UI Light"/>
                <a:ea typeface="Segoe UI Light"/>
                <a:cs typeface="Segoe UI Light"/>
              </a:rPr>
              <a:t>Ambient.</a:t>
            </a:r>
          </a:p>
          <a:p>
            <a:pPr algn="l">
              <a:lnSpc>
                <a:spcPct val="90000"/>
              </a:lnSpc>
              <a:spcBef>
                <a:spcPts val="0"/>
              </a:spcBef>
              <a:spcAft>
                <a:spcPts val="0"/>
              </a:spcAft>
            </a:pPr>
            <a:r>
              <a:rPr lang="en-US" sz="4200" b="0" i="0" dirty="0">
                <a:solidFill>
                  <a:srgbClr val="FFFFFF"/>
                </a:solidFill>
                <a:latin typeface="Segoe UI Light"/>
                <a:ea typeface="Segoe UI Light"/>
                <a:cs typeface="Segoe UI Light"/>
              </a:rPr>
              <a:t>Autonomous.</a:t>
            </a:r>
          </a:p>
          <a:p>
            <a:pPr algn="l">
              <a:lnSpc>
                <a:spcPct val="90000"/>
              </a:lnSpc>
              <a:spcBef>
                <a:spcPts val="0"/>
              </a:spcBef>
              <a:spcAft>
                <a:spcPts val="1000"/>
              </a:spcAft>
            </a:pPr>
            <a:r>
              <a:rPr lang="en-US" sz="4200" b="0" i="0" dirty="0">
                <a:solidFill>
                  <a:srgbClr val="FFFFFF"/>
                </a:solidFill>
                <a:latin typeface="Segoe UI Light"/>
                <a:ea typeface="Segoe UI Light"/>
                <a:cs typeface="Segoe UI Light"/>
              </a:rPr>
              <a:t>Everywhere.</a:t>
            </a:r>
          </a:p>
          <a:p>
            <a:pPr algn="l">
              <a:spcBef>
                <a:spcPts val="0"/>
              </a:spcBef>
              <a:spcAft>
                <a:spcPts val="400"/>
              </a:spcAft>
            </a:pPr>
            <a:r>
              <a:rPr lang="en-US" sz="1600" b="0" i="1" dirty="0">
                <a:solidFill>
                  <a:srgbClr val="F7F3EA"/>
                </a:solidFill>
                <a:latin typeface="Segoe UI"/>
                <a:ea typeface="Segoe UI"/>
                <a:cs typeface="Segoe UI"/>
              </a:rPr>
              <a:t>“Security should be ambient and autonomous,
just like the AI it protects.”</a:t>
            </a:r>
          </a:p>
          <a:p>
            <a:pPr algn="l">
              <a:spcBef>
                <a:spcPts val="0"/>
              </a:spcBef>
              <a:spcAft>
                <a:spcPts val="0"/>
              </a:spcAft>
            </a:pPr>
            <a:r>
              <a:rPr lang="en-US" sz="1300" b="0" i="0" dirty="0">
                <a:solidFill>
                  <a:srgbClr val="E4C48A"/>
                </a:solidFill>
                <a:latin typeface="Segoe UI"/>
                <a:ea typeface="Segoe UI"/>
                <a:cs typeface="Segoe UI"/>
              </a:rPr>
              <a:t>— Microsoft Security vision</a:t>
            </a:r>
          </a:p>
        </p:txBody>
      </p:sp>
      <p:sp>
        <p:nvSpPr>
          <p:cNvPr id="5" name="Rounded Rectangle 4"/>
          <p:cNvSpPr/>
          <p:nvPr/>
        </p:nvSpPr>
        <p:spPr>
          <a:xfrm>
            <a:off x="365760" y="4617720"/>
            <a:ext cx="5715000" cy="1170432"/>
          </a:xfrm>
          <a:prstGeom prst="roundRect">
            <a:avLst>
              <a:gd name="adj" fmla="val 8000"/>
            </a:avLst>
          </a:prstGeom>
          <a:solidFill>
            <a:srgbClr val="071422">
              <a:alpha val="88000"/>
            </a:srgbClr>
          </a:solidFill>
          <a:ln w="13970">
            <a:solidFill>
              <a:srgbClr val="9ADCF2">
                <a:alpha val="75000"/>
              </a:srgbClr>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85216" y="4718304"/>
            <a:ext cx="5303520" cy="969264"/>
          </a:xfrm>
          <a:prstGeom prst="rect">
            <a:avLst/>
          </a:prstGeom>
          <a:noFill/>
        </p:spPr>
        <p:txBody>
          <a:bodyPr wrap="square" lIns="0" tIns="18288" rIns="0" bIns="18288" anchor="t"/>
          <a:lstStyle/>
          <a:p>
            <a:pPr algn="l">
              <a:spcBef>
                <a:spcPts val="0"/>
              </a:spcBef>
              <a:spcAft>
                <a:spcPts val="200"/>
              </a:spcAft>
            </a:pPr>
            <a:r>
              <a:rPr lang="en-US" sz="1300" b="0" i="0" spc="180" dirty="0">
                <a:solidFill>
                  <a:srgbClr val="9ADCF2"/>
                </a:solidFill>
                <a:latin typeface="Segoe UI Semibold"/>
                <a:ea typeface="Segoe UI Semibold"/>
                <a:cs typeface="Segoe UI Semibold"/>
              </a:rPr>
              <a:t>AMBIENT</a:t>
            </a:r>
          </a:p>
          <a:p>
            <a:pPr algn="l">
              <a:spcBef>
                <a:spcPts val="0"/>
              </a:spcBef>
              <a:spcAft>
                <a:spcPts val="0"/>
              </a:spcAft>
            </a:pPr>
            <a:r>
              <a:rPr lang="en-US" sz="1500" b="0" i="0" dirty="0">
                <a:solidFill>
                  <a:srgbClr val="FFFFFF"/>
                </a:solidFill>
                <a:latin typeface="Segoe UI"/>
                <a:ea typeface="Segoe UI"/>
                <a:cs typeface="Segoe UI"/>
              </a:rPr>
              <a:t>Woven into the environment, not bolted onto every interaction.</a:t>
            </a:r>
          </a:p>
        </p:txBody>
      </p:sp>
      <p:sp>
        <p:nvSpPr>
          <p:cNvPr id="7" name="Rounded Rectangle 6"/>
          <p:cNvSpPr/>
          <p:nvPr/>
        </p:nvSpPr>
        <p:spPr>
          <a:xfrm>
            <a:off x="6291072" y="4617720"/>
            <a:ext cx="5715000" cy="1170432"/>
          </a:xfrm>
          <a:prstGeom prst="roundRect">
            <a:avLst>
              <a:gd name="adj" fmla="val 8000"/>
            </a:avLst>
          </a:prstGeom>
          <a:solidFill>
            <a:srgbClr val="071422">
              <a:alpha val="88000"/>
            </a:srgbClr>
          </a:solidFill>
          <a:ln w="13970">
            <a:solidFill>
              <a:srgbClr val="9ADCF2">
                <a:alpha val="75000"/>
              </a:srgbClr>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6510528" y="4718304"/>
            <a:ext cx="5303520" cy="969264"/>
          </a:xfrm>
          <a:prstGeom prst="rect">
            <a:avLst/>
          </a:prstGeom>
          <a:noFill/>
        </p:spPr>
        <p:txBody>
          <a:bodyPr wrap="square" lIns="0" tIns="18288" rIns="0" bIns="18288" anchor="t"/>
          <a:lstStyle/>
          <a:p>
            <a:pPr algn="l">
              <a:spcBef>
                <a:spcPts val="0"/>
              </a:spcBef>
              <a:spcAft>
                <a:spcPts val="200"/>
              </a:spcAft>
            </a:pPr>
            <a:r>
              <a:rPr lang="en-US" sz="1300" b="0" i="0" spc="180" dirty="0">
                <a:solidFill>
                  <a:srgbClr val="9ADCF2"/>
                </a:solidFill>
                <a:latin typeface="Segoe UI Semibold"/>
                <a:ea typeface="Segoe UI Semibold"/>
                <a:cs typeface="Segoe UI Semibold"/>
              </a:rPr>
              <a:t>AUTONOMOUS</a:t>
            </a:r>
          </a:p>
          <a:p>
            <a:pPr algn="l">
              <a:spcBef>
                <a:spcPts val="0"/>
              </a:spcBef>
              <a:spcAft>
                <a:spcPts val="0"/>
              </a:spcAft>
            </a:pPr>
            <a:r>
              <a:rPr lang="en-US" sz="1500" b="0" i="0" dirty="0">
                <a:solidFill>
                  <a:srgbClr val="FFFFFF"/>
                </a:solidFill>
                <a:latin typeface="Segoe UI"/>
                <a:ea typeface="Segoe UI"/>
                <a:cs typeface="Segoe UI"/>
              </a:rPr>
              <a:t>AI and automation continuously perceive, reason and act.</a:t>
            </a:r>
          </a:p>
        </p:txBody>
      </p:sp>
      <p:sp>
        <p:nvSpPr>
          <p:cNvPr id="9" name="Rectangle 8"/>
          <p:cNvSpPr/>
          <p:nvPr/>
        </p:nvSpPr>
        <p:spPr>
          <a:xfrm>
            <a:off x="0" y="5961888"/>
            <a:ext cx="12191999" cy="896112"/>
          </a:xfrm>
          <a:prstGeom prst="rect">
            <a:avLst/>
          </a:prstGeom>
          <a:solidFill>
            <a:srgbClr val="071422">
              <a:alpha val="92000"/>
            </a:srgbClr>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65760" y="5961888"/>
            <a:ext cx="11460479" cy="896112"/>
          </a:xfrm>
          <a:prstGeom prst="rect">
            <a:avLst/>
          </a:prstGeom>
          <a:noFill/>
        </p:spPr>
        <p:txBody>
          <a:bodyPr wrap="square" lIns="0" tIns="18288" rIns="0" bIns="18288" anchor="ctr"/>
          <a:lstStyle/>
          <a:p>
            <a:pPr algn="ctr">
              <a:spcBef>
                <a:spcPts val="0"/>
              </a:spcBef>
              <a:spcAft>
                <a:spcPts val="0"/>
              </a:spcAft>
            </a:pPr>
            <a:r>
              <a:rPr lang="en-US" sz="1800" b="0" i="0" dirty="0">
                <a:solidFill>
                  <a:srgbClr val="E4C48A"/>
                </a:solidFill>
                <a:latin typeface="Segoe UI Semibold"/>
                <a:ea typeface="Segoe UI Semibold"/>
                <a:cs typeface="Segoe UI Semibold"/>
              </a:rPr>
              <a:t>Security as the core primitive of the AI stack</a:t>
            </a:r>
          </a:p>
        </p:txBody>
      </p:sp>
      <p:sp>
        <p:nvSpPr>
          <p:cNvPr id="11" name="TextBox 10"/>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a:extLst>
            <a:ext uri="{FF2B5EF4-FFF2-40B4-BE49-F238E27FC236}">
              <a16:creationId xmlns:a16="http://schemas.microsoft.com/office/drawing/2014/main" id="{39ABA6C3-DA71-1647-CAC0-F5501EF1662E}"/>
            </a:ext>
          </a:extLst>
        </p:cNvPr>
        <p:cNvGrpSpPr/>
        <p:nvPr/>
      </p:nvGrpSpPr>
      <p:grpSpPr>
        <a:xfrm>
          <a:off x="0" y="0"/>
          <a:ext cx="0" cy="0"/>
          <a:chOff x="0" y="0"/>
          <a:chExt cx="0" cy="0"/>
        </a:xfrm>
      </p:grpSpPr>
      <p:sp>
        <p:nvSpPr>
          <p:cNvPr id="33" name="TextBox 32"/>
          <p:cNvSpPr txBox="1"/>
          <p:nvPr/>
        </p:nvSpPr>
        <p:spPr>
          <a:xfrm>
            <a:off x="530352" y="274320"/>
            <a:ext cx="9281160" cy="585216"/>
          </a:xfrm>
          <a:prstGeom prst="rect">
            <a:avLst/>
          </a:prstGeom>
          <a:noFill/>
        </p:spPr>
        <p:txBody>
          <a:bodyPr wrap="square" lIns="0" rIns="0" tIns="18288" bIns="18288" anchor="t"/>
          <a:lstStyle/>
          <a:p>
            <a:pPr algn="l">
              <a:spcBef>
                <a:spcPts val="0"/>
              </a:spcBef>
              <a:spcAft>
                <a:spcPts val="0"/>
              </a:spcAft>
            </a:pPr>
            <a:r>
              <a:rPr sz="3200" b="0" i="0" lang="en-US" dirty="0">
                <a:solidFill>
                  <a:srgbClr val="122033"/>
                </a:solidFill>
                <a:latin typeface="Segoe UI Light"/>
                <a:ea typeface="Segoe UI Light"/>
                <a:cs typeface="Segoe UI Light"/>
              </a:rPr>
              <a:t>AI-first, end to end</a:t>
            </a:r>
          </a:p>
        </p:txBody>
      </p:sp>
      <p:sp>
        <p:nvSpPr>
          <p:cNvPr id="34" name="Rectangle 33"/>
          <p:cNvSpPr/>
          <p:nvPr/>
        </p:nvSpPr>
        <p:spPr>
          <a:xfrm>
            <a:off x="548640" y="932688"/>
            <a:ext cx="1417320" cy="16459"/>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30352" y="1042415"/>
            <a:ext cx="9326880" cy="420624"/>
          </a:xfrm>
          <a:prstGeom prst="rect">
            <a:avLst/>
          </a:prstGeom>
          <a:noFill/>
        </p:spPr>
        <p:txBody>
          <a:bodyPr wrap="square" lIns="0" rIns="0" tIns="18288" bIns="18288" anchor="t"/>
          <a:lstStyle/>
          <a:p>
            <a:pPr algn="l">
              <a:spcBef>
                <a:spcPts val="0"/>
              </a:spcBef>
              <a:spcAft>
                <a:spcPts val="0"/>
              </a:spcAft>
            </a:pPr>
            <a:r>
              <a:rPr sz="1600" b="0" i="0" lang="en-US" dirty="0">
                <a:solidFill>
                  <a:srgbClr val="5E6A75"/>
                </a:solidFill>
                <a:latin typeface="Segoe UI"/>
                <a:ea typeface="Segoe UI"/>
                <a:cs typeface="Segoe UI"/>
              </a:rPr>
              <a:t>Five product families. One platform. Shared signal, context, and intelligence.</a:t>
            </a:r>
          </a:p>
        </p:txBody>
      </p:sp>
      <p:sp>
        <p:nvSpPr>
          <p:cNvPr id="36" name="Rounded Rectangle 35"/>
          <p:cNvSpPr/>
          <p:nvPr/>
        </p:nvSpPr>
        <p:spPr>
          <a:xfrm>
            <a:off x="384048" y="1591056"/>
            <a:ext cx="2182367" cy="267004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84048" y="1591056"/>
            <a:ext cx="64008" cy="267004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03503" y="1792224"/>
            <a:ext cx="1798319" cy="230428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THREAT</a:t>
            </a:r>
          </a:p>
          <a:p>
            <a:pPr algn="l">
              <a:spcBef>
                <a:spcPts val="0"/>
              </a:spcBef>
              <a:spcAft>
                <a:spcPts val="600"/>
              </a:spcAft>
            </a:pPr>
            <a:r>
              <a:rPr sz="2600" b="0" i="0" lang="en-US" dirty="0">
                <a:solidFill>
                  <a:srgbClr val="122033"/>
                </a:solidFill>
                <a:latin typeface="Segoe UI Light"/>
                <a:ea typeface="Segoe UI Light"/>
                <a:cs typeface="Segoe UI Light"/>
              </a:rPr>
              <a:t>Defender</a:t>
            </a:r>
          </a:p>
          <a:p>
            <a:pPr algn="l">
              <a:spcBef>
                <a:spcPts val="0"/>
              </a:spcBef>
              <a:spcAft>
                <a:spcPts val="0"/>
              </a:spcAft>
            </a:pPr>
            <a:r>
              <a:rPr sz="1400" b="0" i="0" lang="en-US" dirty="0">
                <a:solidFill>
                  <a:srgbClr val="5E6A75"/>
                </a:solidFill>
                <a:latin typeface="Segoe UI"/>
                <a:ea typeface="Segoe UI"/>
                <a:cs typeface="Segoe UI"/>
              </a:rPr>
              <a:t>AI detection
and response.</a:t>
            </a:r>
          </a:p>
        </p:txBody>
      </p:sp>
      <p:sp>
        <p:nvSpPr>
          <p:cNvPr id="39" name="Rounded Rectangle 38"/>
          <p:cNvSpPr/>
          <p:nvPr/>
        </p:nvSpPr>
        <p:spPr>
          <a:xfrm>
            <a:off x="2694431" y="1591056"/>
            <a:ext cx="2182367" cy="267004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694431" y="1591056"/>
            <a:ext cx="64008" cy="267004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913887" y="1792224"/>
            <a:ext cx="1798319" cy="230428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DATA</a:t>
            </a:r>
          </a:p>
          <a:p>
            <a:pPr algn="l">
              <a:spcBef>
                <a:spcPts val="0"/>
              </a:spcBef>
              <a:spcAft>
                <a:spcPts val="600"/>
              </a:spcAft>
            </a:pPr>
            <a:r>
              <a:rPr sz="2600" b="0" i="0" lang="en-US" dirty="0">
                <a:solidFill>
                  <a:srgbClr val="122033"/>
                </a:solidFill>
                <a:latin typeface="Segoe UI Light"/>
                <a:ea typeface="Segoe UI Light"/>
                <a:cs typeface="Segoe UI Light"/>
              </a:rPr>
              <a:t>Purview</a:t>
            </a:r>
          </a:p>
          <a:p>
            <a:pPr algn="l">
              <a:spcBef>
                <a:spcPts val="0"/>
              </a:spcBef>
              <a:spcAft>
                <a:spcPts val="0"/>
              </a:spcAft>
            </a:pPr>
            <a:r>
              <a:rPr sz="1400" b="0" i="0" lang="en-US" dirty="0">
                <a:solidFill>
                  <a:srgbClr val="5E6A75"/>
                </a:solidFill>
                <a:latin typeface="Segoe UI"/>
                <a:ea typeface="Segoe UI"/>
                <a:cs typeface="Segoe UI"/>
              </a:rPr>
              <a:t>Secure data,
wherever it lives.</a:t>
            </a:r>
          </a:p>
        </p:txBody>
      </p:sp>
      <p:sp>
        <p:nvSpPr>
          <p:cNvPr id="42" name="Rounded Rectangle 41"/>
          <p:cNvSpPr/>
          <p:nvPr/>
        </p:nvSpPr>
        <p:spPr>
          <a:xfrm>
            <a:off x="5004815" y="1591056"/>
            <a:ext cx="2182367" cy="267004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004815" y="1591056"/>
            <a:ext cx="64008" cy="267004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224271" y="1792224"/>
            <a:ext cx="1798319" cy="230428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ACCESS</a:t>
            </a:r>
          </a:p>
          <a:p>
            <a:pPr algn="l">
              <a:spcBef>
                <a:spcPts val="0"/>
              </a:spcBef>
              <a:spcAft>
                <a:spcPts val="600"/>
              </a:spcAft>
            </a:pPr>
            <a:r>
              <a:rPr sz="2600" b="0" i="0" lang="en-US" dirty="0">
                <a:solidFill>
                  <a:srgbClr val="122033"/>
                </a:solidFill>
                <a:latin typeface="Segoe UI Light"/>
                <a:ea typeface="Segoe UI Light"/>
                <a:cs typeface="Segoe UI Light"/>
              </a:rPr>
              <a:t>Entra</a:t>
            </a:r>
          </a:p>
          <a:p>
            <a:pPr algn="l">
              <a:spcBef>
                <a:spcPts val="0"/>
              </a:spcBef>
              <a:spcAft>
                <a:spcPts val="0"/>
              </a:spcAft>
            </a:pPr>
            <a:r>
              <a:rPr sz="1400" b="0" i="0" lang="en-US" dirty="0">
                <a:solidFill>
                  <a:srgbClr val="5E6A75"/>
                </a:solidFill>
                <a:latin typeface="Segoe UI"/>
                <a:ea typeface="Segoe UI"/>
                <a:cs typeface="Segoe UI"/>
              </a:rPr>
              <a:t>People and agents,
one identity.</a:t>
            </a:r>
          </a:p>
        </p:txBody>
      </p:sp>
      <p:sp>
        <p:nvSpPr>
          <p:cNvPr id="45" name="Rounded Rectangle 44"/>
          <p:cNvSpPr/>
          <p:nvPr/>
        </p:nvSpPr>
        <p:spPr>
          <a:xfrm>
            <a:off x="7315199" y="1591056"/>
            <a:ext cx="2182367" cy="267004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7315199" y="1591056"/>
            <a:ext cx="64008" cy="267004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534655" y="1792224"/>
            <a:ext cx="1798319" cy="230428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DEVICES</a:t>
            </a:r>
          </a:p>
          <a:p>
            <a:pPr algn="l">
              <a:spcBef>
                <a:spcPts val="0"/>
              </a:spcBef>
              <a:spcAft>
                <a:spcPts val="600"/>
              </a:spcAft>
            </a:pPr>
            <a:r>
              <a:rPr sz="2600" b="0" i="0" lang="en-US" dirty="0">
                <a:solidFill>
                  <a:srgbClr val="122033"/>
                </a:solidFill>
                <a:latin typeface="Segoe UI Light"/>
                <a:ea typeface="Segoe UI Light"/>
                <a:cs typeface="Segoe UI Light"/>
              </a:rPr>
              <a:t>Intune</a:t>
            </a:r>
          </a:p>
          <a:p>
            <a:pPr algn="l">
              <a:spcBef>
                <a:spcPts val="0"/>
              </a:spcBef>
              <a:spcAft>
                <a:spcPts val="0"/>
              </a:spcAft>
            </a:pPr>
            <a:r>
              <a:rPr sz="1400" b="0" i="0" lang="en-US" dirty="0">
                <a:solidFill>
                  <a:srgbClr val="5E6A75"/>
                </a:solidFill>
                <a:latin typeface="Segoe UI"/>
                <a:ea typeface="Segoe UI"/>
                <a:cs typeface="Segoe UI"/>
              </a:rPr>
              <a:t>Every device,
configured safely.</a:t>
            </a:r>
          </a:p>
        </p:txBody>
      </p:sp>
      <p:sp>
        <p:nvSpPr>
          <p:cNvPr id="48" name="Rounded Rectangle 47"/>
          <p:cNvSpPr/>
          <p:nvPr/>
        </p:nvSpPr>
        <p:spPr>
          <a:xfrm>
            <a:off x="9625583" y="1591056"/>
            <a:ext cx="2182367" cy="2670048"/>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9625583" y="1591056"/>
            <a:ext cx="64008" cy="2670048"/>
          </a:xfrm>
          <a:prstGeom prst="rect">
            <a:avLst/>
          </a:prstGeom>
          <a:solidFill>
            <a:srgbClr val="7EC8E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845039" y="1792224"/>
            <a:ext cx="1798319" cy="230428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7EC8E3"/>
                </a:solidFill>
                <a:latin typeface="Segoe UI Semibold"/>
                <a:ea typeface="Segoe UI Semibold"/>
                <a:cs typeface="Segoe UI Semibold"/>
              </a:rPr>
              <a:t>PLATFORM</a:t>
            </a:r>
          </a:p>
          <a:p>
            <a:pPr algn="l">
              <a:spcBef>
                <a:spcPts val="0"/>
              </a:spcBef>
              <a:spcAft>
                <a:spcPts val="600"/>
              </a:spcAft>
            </a:pPr>
            <a:r>
              <a:rPr sz="2600" b="0" i="0" lang="en-US" dirty="0">
                <a:solidFill>
                  <a:srgbClr val="FFFFFF"/>
                </a:solidFill>
                <a:latin typeface="Segoe UI Light"/>
                <a:ea typeface="Segoe UI Light"/>
                <a:cs typeface="Segoe UI Light"/>
              </a:rPr>
              <a:t>Sentinel</a:t>
            </a:r>
          </a:p>
          <a:p>
            <a:pPr algn="l">
              <a:spcBef>
                <a:spcPts val="0"/>
              </a:spcBef>
              <a:spcAft>
                <a:spcPts val="0"/>
              </a:spcAft>
            </a:pPr>
            <a:r>
              <a:rPr sz="1400" b="0" i="0" lang="en-US" dirty="0">
                <a:solidFill>
                  <a:srgbClr val="D5DDE4"/>
                </a:solidFill>
                <a:latin typeface="Segoe UI"/>
                <a:ea typeface="Segoe UI"/>
                <a:cs typeface="Segoe UI"/>
              </a:rPr>
              <a:t>Connects the
whole environment.</a:t>
            </a:r>
          </a:p>
        </p:txBody>
      </p:sp>
      <p:sp>
        <p:nvSpPr>
          <p:cNvPr id="51" name="Rounded Rectangle 50"/>
          <p:cNvSpPr/>
          <p:nvPr/>
        </p:nvSpPr>
        <p:spPr>
          <a:xfrm>
            <a:off x="384048" y="4443984"/>
            <a:ext cx="11430000" cy="1737360"/>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384048" y="4443984"/>
            <a:ext cx="64008" cy="1737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76656" y="4443984"/>
            <a:ext cx="6675120" cy="1737360"/>
          </a:xfrm>
          <a:prstGeom prst="rect">
            <a:avLst/>
          </a:prstGeom>
          <a:noFill/>
        </p:spPr>
        <p:txBody>
          <a:bodyPr wrap="square" lIns="0" rIns="0" tIns="18288" bIns="18288" anchor="ctr"/>
          <a:lstStyle/>
          <a:p>
            <a:pPr algn="l">
              <a:spcBef>
                <a:spcPts val="0"/>
              </a:spcBef>
              <a:spcAft>
                <a:spcPts val="600"/>
              </a:spcAft>
            </a:pPr>
            <a:r>
              <a:rPr sz="1200" b="0" i="0" lang="en-US" dirty="0" spc="140">
                <a:solidFill>
                  <a:srgbClr val="E4C48A"/>
                </a:solidFill>
                <a:latin typeface="Segoe UI Semibold"/>
                <a:ea typeface="Segoe UI Semibold"/>
                <a:cs typeface="Segoe UI Semibold"/>
              </a:rPr>
              <a:t>MICROSOFT SECURITY COPILOT</a:t>
            </a:r>
          </a:p>
          <a:p>
            <a:pPr algn="l">
              <a:spcBef>
                <a:spcPts val="0"/>
              </a:spcBef>
              <a:spcAft>
                <a:spcPts val="0"/>
              </a:spcAft>
            </a:pPr>
            <a:r>
              <a:rPr sz="2600" b="0" i="0" lang="en-US" dirty="0">
                <a:solidFill>
                  <a:srgbClr val="FFFFFF"/>
                </a:solidFill>
                <a:latin typeface="Segoe UI Light"/>
                <a:ea typeface="Segoe UI Light"/>
                <a:cs typeface="Segoe UI Light"/>
              </a:rPr>
              <a:t>Intelligence, speed,
and autonomy.</a:t>
            </a:r>
          </a:p>
        </p:txBody>
      </p:sp>
      <p:sp>
        <p:nvSpPr>
          <p:cNvPr id="54" name="Rectangle 53"/>
          <p:cNvSpPr/>
          <p:nvPr/>
        </p:nvSpPr>
        <p:spPr>
          <a:xfrm>
            <a:off x="7589520" y="4791456"/>
            <a:ext cx="13716" cy="1042415"/>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818120" y="4645152"/>
            <a:ext cx="3749039" cy="256032"/>
          </a:xfrm>
          <a:prstGeom prst="rect">
            <a:avLst/>
          </a:prstGeom>
          <a:noFill/>
        </p:spPr>
        <p:txBody>
          <a:bodyPr wrap="square" lIns="0" rIns="0" tIns="18288" bIns="18288" anchor="t"/>
          <a:lstStyle/>
          <a:p>
            <a:pPr algn="l">
              <a:spcBef>
                <a:spcPts val="0"/>
              </a:spcBef>
              <a:spcAft>
                <a:spcPts val="0"/>
              </a:spcAft>
            </a:pPr>
            <a:r>
              <a:rPr sz="1100" b="0" i="0" lang="en-US" dirty="0" spc="160">
                <a:solidFill>
                  <a:srgbClr val="E4C48A"/>
                </a:solidFill>
                <a:latin typeface="Segoe UI Semibold"/>
                <a:ea typeface="Segoe UI Semibold"/>
                <a:cs typeface="Segoe UI Semibold"/>
              </a:rPr>
              <a:t>ACROSS</a:t>
            </a:r>
          </a:p>
        </p:txBody>
      </p:sp>
      <p:sp>
        <p:nvSpPr>
          <p:cNvPr id="56" name="TextBox 55"/>
          <p:cNvSpPr txBox="1"/>
          <p:nvPr/>
        </p:nvSpPr>
        <p:spPr>
          <a:xfrm>
            <a:off x="7818120" y="4901184"/>
            <a:ext cx="3749039" cy="1115568"/>
          </a:xfrm>
          <a:prstGeom prst="rect">
            <a:avLst/>
          </a:prstGeom>
          <a:noFill/>
        </p:spPr>
        <p:txBody>
          <a:bodyPr wrap="square" lIns="0" rIns="0" tIns="18288" bIns="18288" anchor="t"/>
          <a:lstStyle/>
          <a:p>
            <a:pPr algn="l">
              <a:spcBef>
                <a:spcPts val="0"/>
              </a:spcBef>
              <a:spcAft>
                <a:spcPts val="0"/>
              </a:spcAft>
            </a:pPr>
            <a:r>
              <a:rPr sz="2000" b="0" i="0" lang="en-US" dirty="0">
                <a:solidFill>
                  <a:srgbClr val="FFFFFF"/>
                </a:solidFill>
                <a:latin typeface="Segoe UI Light"/>
                <a:ea typeface="Segoe UI Light"/>
                <a:cs typeface="Segoe UI Light"/>
              </a:rPr>
              <a:t>People</a:t>
            </a:r>
          </a:p>
          <a:p>
            <a:pPr algn="l">
              <a:spcBef>
                <a:spcPts val="0"/>
              </a:spcBef>
              <a:spcAft>
                <a:spcPts val="0"/>
              </a:spcAft>
            </a:pPr>
            <a:r>
              <a:rPr sz="2000" b="0" i="0" lang="en-US" dirty="0">
                <a:solidFill>
                  <a:srgbClr val="FFFFFF"/>
                </a:solidFill>
                <a:latin typeface="Segoe UI Light"/>
                <a:ea typeface="Segoe UI Light"/>
                <a:cs typeface="Segoe UI Light"/>
              </a:rPr>
              <a:t>Agents</a:t>
            </a:r>
          </a:p>
          <a:p>
            <a:pPr algn="l">
              <a:spcBef>
                <a:spcPts val="0"/>
              </a:spcBef>
              <a:spcAft>
                <a:spcPts val="0"/>
              </a:spcAft>
            </a:pPr>
            <a:r>
              <a:rPr sz="2000" b="0" i="0" lang="en-US" dirty="0">
                <a:solidFill>
                  <a:srgbClr val="FFFFFF"/>
                </a:solidFill>
                <a:latin typeface="Segoe UI Light"/>
                <a:ea typeface="Segoe UI Light"/>
                <a:cs typeface="Segoe UI Light"/>
              </a:rPr>
              <a:t>Infrastructure</a:t>
            </a:r>
          </a:p>
        </p:txBody>
      </p:sp>
      <p:sp>
        <p:nvSpPr>
          <p:cNvPr id="57" name="Rounded Rectangle 56"/>
          <p:cNvSpPr/>
          <p:nvPr/>
        </p:nvSpPr>
        <p:spPr>
          <a:xfrm>
            <a:off x="10162031" y="256032"/>
            <a:ext cx="1645920" cy="465512"/>
          </a:xfrm>
          <a:prstGeom prst="roundRect">
            <a:avLst>
              <a:gd name="adj" fmla="val 18000"/>
            </a:avLst>
          </a:prstGeom>
          <a:solidFill>
            <a:srgbClr val="0E2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8" name="Picture 57" descr="Microsoft"/>
          <p:cNvPicPr>
            <a:picLocks noChangeAspect="1"/>
          </p:cNvPicPr>
          <p:nvPr/>
        </p:nvPicPr>
        <p:blipFill>
          <a:blip r:embed="rId9"/>
          <a:stretch>
            <a:fillRect/>
          </a:stretch>
        </p:blipFill>
        <p:spPr>
          <a:xfrm>
            <a:off x="10299191" y="329184"/>
            <a:ext cx="1371600" cy="319208"/>
          </a:xfrm>
          <a:prstGeom prst="rect">
            <a:avLst/>
          </a:prstGeom>
        </p:spPr>
      </p:pic>
    </p:spTree>
    <p:extLst>
      <p:ext uri="{BB962C8B-B14F-4D97-AF65-F5344CB8AC3E}">
        <p14:creationId xmlns:p14="http://schemas.microsoft.com/office/powerpoint/2010/main" val="224238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a:extLst>
            <a:ext uri="{FF2B5EF4-FFF2-40B4-BE49-F238E27FC236}">
              <a16:creationId xmlns:a16="http://schemas.microsoft.com/office/drawing/2014/main" id="{B7A73828-7132-01EC-927A-C0177D85AC9A}"/>
            </a:ext>
          </a:extLst>
        </p:cNvPr>
        <p:cNvGrpSpPr/>
        <p:nvPr/>
      </p:nvGrpSpPr>
      <p:grpSpPr>
        <a:xfrm>
          <a:off x="0" y="0"/>
          <a:ext cx="0" cy="0"/>
          <a:chOff x="0" y="0"/>
          <a:chExt cx="0" cy="0"/>
        </a:xfrm>
      </p:grpSpPr>
      <p:sp>
        <p:nvSpPr>
          <p:cNvPr id="80" name="TextBox 79"/>
          <p:cNvSpPr txBox="1"/>
          <p:nvPr/>
        </p:nvSpPr>
        <p:spPr>
          <a:xfrm>
            <a:off x="530352" y="274320"/>
            <a:ext cx="9281160" cy="585216"/>
          </a:xfrm>
          <a:prstGeom prst="rect">
            <a:avLst/>
          </a:prstGeom>
          <a:noFill/>
        </p:spPr>
        <p:txBody>
          <a:bodyPr wrap="square" lIns="0" rIns="0" tIns="18288" bIns="18288" anchor="t"/>
          <a:lstStyle/>
          <a:p>
            <a:pPr algn="l">
              <a:spcBef>
                <a:spcPts val="0"/>
              </a:spcBef>
              <a:spcAft>
                <a:spcPts val="0"/>
              </a:spcAft>
            </a:pPr>
            <a:r>
              <a:rPr sz="3200" b="0" i="0" lang="en-US" dirty="0">
                <a:solidFill>
                  <a:srgbClr val="122033"/>
                </a:solidFill>
                <a:latin typeface="Segoe UI Light"/>
                <a:ea typeface="Segoe UI Light"/>
                <a:cs typeface="Segoe UI Light"/>
              </a:rPr>
              <a:t>Secure agents. Secure foundations.</a:t>
            </a:r>
          </a:p>
        </p:txBody>
      </p:sp>
      <p:sp>
        <p:nvSpPr>
          <p:cNvPr id="81" name="Rectangle 80"/>
          <p:cNvSpPr/>
          <p:nvPr/>
        </p:nvSpPr>
        <p:spPr>
          <a:xfrm>
            <a:off x="548640" y="932688"/>
            <a:ext cx="1417320" cy="16459"/>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2" name="TextBox 81"/>
          <p:cNvSpPr txBox="1"/>
          <p:nvPr/>
        </p:nvSpPr>
        <p:spPr>
          <a:xfrm>
            <a:off x="530352" y="1042415"/>
            <a:ext cx="9326880" cy="420624"/>
          </a:xfrm>
          <a:prstGeom prst="rect">
            <a:avLst/>
          </a:prstGeom>
          <a:noFill/>
        </p:spPr>
        <p:txBody>
          <a:bodyPr wrap="square" lIns="0" rIns="0" tIns="18288" bIns="18288" anchor="t"/>
          <a:lstStyle/>
          <a:p>
            <a:pPr algn="l">
              <a:spcBef>
                <a:spcPts val="0"/>
              </a:spcBef>
              <a:spcAft>
                <a:spcPts val="0"/>
              </a:spcAft>
            </a:pPr>
            <a:r>
              <a:rPr sz="1600" b="0" i="0" lang="en-US" dirty="0">
                <a:solidFill>
                  <a:srgbClr val="5E6A75"/>
                </a:solidFill>
                <a:latin typeface="Segoe UI"/>
                <a:ea typeface="Segoe UI"/>
                <a:cs typeface="Segoe UI"/>
              </a:rPr>
              <a:t>Comprehensive protection across agents and users.</a:t>
            </a:r>
          </a:p>
        </p:txBody>
      </p:sp>
      <p:sp>
        <p:nvSpPr>
          <p:cNvPr id="83" name="Rounded Rectangle 82"/>
          <p:cNvSpPr/>
          <p:nvPr/>
        </p:nvSpPr>
        <p:spPr>
          <a:xfrm>
            <a:off x="457200" y="1591056"/>
            <a:ext cx="3649471" cy="294436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457200" y="1591056"/>
            <a:ext cx="64008" cy="294436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676656" y="1792224"/>
            <a:ext cx="3265423" cy="257860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01    SECURE IDENTITIES</a:t>
            </a:r>
          </a:p>
          <a:p>
            <a:pPr algn="l">
              <a:spcBef>
                <a:spcPts val="0"/>
              </a:spcBef>
              <a:spcAft>
                <a:spcPts val="600"/>
              </a:spcAft>
            </a:pPr>
            <a:r>
              <a:rPr sz="2600" b="0" i="0" lang="en-US" dirty="0">
                <a:solidFill>
                  <a:srgbClr val="122033"/>
                </a:solidFill>
                <a:latin typeface="Segoe UI Light"/>
                <a:ea typeface="Segoe UI Light"/>
                <a:cs typeface="Segoe UI Light"/>
              </a:rPr>
              <a:t>Protect access</a:t>
            </a:r>
          </a:p>
          <a:p>
            <a:pPr algn="l">
              <a:spcBef>
                <a:spcPts val="0"/>
              </a:spcBef>
              <a:spcAft>
                <a:spcPts val="0"/>
              </a:spcAft>
            </a:pPr>
            <a:r>
              <a:rPr sz="1400" b="0" i="0" lang="en-US" dirty="0">
                <a:solidFill>
                  <a:srgbClr val="5E6A75"/>
                </a:solidFill>
                <a:latin typeface="Segoe UI"/>
                <a:ea typeface="Segoe UI"/>
                <a:cs typeface="Segoe UI"/>
              </a:rPr>
              <a:t>Guard every resource for users and agents. Identity is where trust starts.</a:t>
            </a:r>
          </a:p>
        </p:txBody>
      </p:sp>
      <p:sp>
        <p:nvSpPr>
          <p:cNvPr id="86" name="Rounded Rectangle 85"/>
          <p:cNvSpPr/>
          <p:nvPr/>
        </p:nvSpPr>
        <p:spPr>
          <a:xfrm>
            <a:off x="4271263" y="1591056"/>
            <a:ext cx="3649471" cy="294436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Rectangle 86"/>
          <p:cNvSpPr/>
          <p:nvPr/>
        </p:nvSpPr>
        <p:spPr>
          <a:xfrm>
            <a:off x="4271263" y="1591056"/>
            <a:ext cx="64008" cy="294436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TextBox 87"/>
          <p:cNvSpPr txBox="1"/>
          <p:nvPr/>
        </p:nvSpPr>
        <p:spPr>
          <a:xfrm>
            <a:off x="4490719" y="1792224"/>
            <a:ext cx="3265423" cy="257860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02    PROTECT YOUR DATA</a:t>
            </a:r>
          </a:p>
          <a:p>
            <a:pPr algn="l">
              <a:spcBef>
                <a:spcPts val="0"/>
              </a:spcBef>
              <a:spcAft>
                <a:spcPts val="600"/>
              </a:spcAft>
            </a:pPr>
            <a:r>
              <a:rPr sz="2600" b="0" i="0" lang="en-US" dirty="0">
                <a:solidFill>
                  <a:srgbClr val="122033"/>
                </a:solidFill>
                <a:latin typeface="Segoe UI Light"/>
                <a:ea typeface="Segoe UI Light"/>
                <a:cs typeface="Segoe UI Light"/>
              </a:rPr>
              <a:t>Govern the flow</a:t>
            </a:r>
          </a:p>
          <a:p>
            <a:pPr algn="l">
              <a:spcBef>
                <a:spcPts val="0"/>
              </a:spcBef>
              <a:spcAft>
                <a:spcPts val="0"/>
              </a:spcAft>
            </a:pPr>
            <a:r>
              <a:rPr sz="1400" b="0" i="0" lang="en-US" dirty="0">
                <a:solidFill>
                  <a:srgbClr val="5E6A75"/>
                </a:solidFill>
                <a:latin typeface="Segoe UI"/>
                <a:ea typeface="Segoe UI"/>
                <a:cs typeface="Segoe UI"/>
              </a:rPr>
              <a:t>See how data is used and shared. Stop oversharing and leakage before it spreads.</a:t>
            </a:r>
          </a:p>
        </p:txBody>
      </p:sp>
      <p:sp>
        <p:nvSpPr>
          <p:cNvPr id="89" name="Rounded Rectangle 88"/>
          <p:cNvSpPr/>
          <p:nvPr/>
        </p:nvSpPr>
        <p:spPr>
          <a:xfrm>
            <a:off x="8085327" y="1591056"/>
            <a:ext cx="3649471" cy="2944368"/>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Rectangle 89"/>
          <p:cNvSpPr/>
          <p:nvPr/>
        </p:nvSpPr>
        <p:spPr>
          <a:xfrm>
            <a:off x="8085327" y="1591056"/>
            <a:ext cx="64008" cy="2944368"/>
          </a:xfrm>
          <a:prstGeom prst="rect">
            <a:avLst/>
          </a:prstGeom>
          <a:solidFill>
            <a:srgbClr val="7EC8E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304783" y="1792224"/>
            <a:ext cx="3265423" cy="257860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7EC8E3"/>
                </a:solidFill>
                <a:latin typeface="Segoe UI Semibold"/>
                <a:ea typeface="Segoe UI Semibold"/>
                <a:cs typeface="Segoe UI Semibold"/>
              </a:rPr>
              <a:t>03    DEFEND AGAINST THREATS</a:t>
            </a:r>
          </a:p>
          <a:p>
            <a:pPr algn="l">
              <a:spcBef>
                <a:spcPts val="0"/>
              </a:spcBef>
              <a:spcAft>
                <a:spcPts val="600"/>
              </a:spcAft>
            </a:pPr>
            <a:r>
              <a:rPr sz="2600" b="0" i="0" lang="en-US" dirty="0">
                <a:solidFill>
                  <a:srgbClr val="FFFFFF"/>
                </a:solidFill>
                <a:latin typeface="Segoe UI Light"/>
                <a:ea typeface="Segoe UI Light"/>
                <a:cs typeface="Segoe UI Light"/>
              </a:rPr>
              <a:t>Act at their speed</a:t>
            </a:r>
          </a:p>
          <a:p>
            <a:pPr algn="l">
              <a:spcBef>
                <a:spcPts val="0"/>
              </a:spcBef>
              <a:spcAft>
                <a:spcPts val="0"/>
              </a:spcAft>
            </a:pPr>
            <a:r>
              <a:rPr sz="1400" b="0" i="0" lang="en-US" dirty="0">
                <a:solidFill>
                  <a:srgbClr val="D5DDE4"/>
                </a:solidFill>
                <a:latin typeface="Segoe UI"/>
                <a:ea typeface="Segoe UI"/>
                <a:cs typeface="Segoe UI"/>
              </a:rPr>
              <a:t>Strengthen posture, simplify SecOps, and meet attacks with AI-powered defense.</a:t>
            </a:r>
          </a:p>
        </p:txBody>
      </p:sp>
      <p:sp>
        <p:nvSpPr>
          <p:cNvPr id="92" name="Rounded Rectangle 91"/>
          <p:cNvSpPr/>
          <p:nvPr/>
        </p:nvSpPr>
        <p:spPr>
          <a:xfrm>
            <a:off x="457200" y="4718304"/>
            <a:ext cx="11283696" cy="1444752"/>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457200" y="4718304"/>
            <a:ext cx="64008" cy="14447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749808" y="4718304"/>
            <a:ext cx="10698480" cy="1444752"/>
          </a:xfrm>
          <a:prstGeom prst="rect">
            <a:avLst/>
          </a:prstGeom>
          <a:noFill/>
        </p:spPr>
        <p:txBody>
          <a:bodyPr wrap="square" lIns="0" rIns="0" tIns="18288" bIns="18288" anchor="ctr"/>
          <a:lstStyle/>
          <a:p>
            <a:pPr algn="l">
              <a:spcBef>
                <a:spcPts val="0"/>
              </a:spcBef>
              <a:spcAft>
                <a:spcPts val="300"/>
              </a:spcAft>
            </a:pPr>
            <a:r>
              <a:rPr sz="1200" b="0" i="0" lang="en-US" dirty="0" spc="160">
                <a:solidFill>
                  <a:srgbClr val="E4C48A"/>
                </a:solidFill>
                <a:latin typeface="Segoe UI Semibold"/>
                <a:ea typeface="Segoe UI Semibold"/>
                <a:cs typeface="Segoe UI Semibold"/>
              </a:rPr>
              <a:t>MICROSOFT AI-FIRST, END-TO-END SECURITY</a:t>
            </a:r>
          </a:p>
          <a:p>
            <a:pPr algn="l">
              <a:spcBef>
                <a:spcPts val="0"/>
              </a:spcBef>
              <a:spcAft>
                <a:spcPts val="200"/>
              </a:spcAft>
            </a:pPr>
            <a:r>
              <a:rPr sz="2400" b="0" i="0" lang="en-US" dirty="0">
                <a:solidFill>
                  <a:srgbClr val="FFFFFF"/>
                </a:solidFill>
                <a:latin typeface="Segoe UI Light"/>
                <a:ea typeface="Segoe UI Light"/>
                <a:cs typeface="Segoe UI Light"/>
              </a:rPr>
              <a:t>One platform for agents and users.</a:t>
            </a:r>
          </a:p>
          <a:p>
            <a:pPr algn="l">
              <a:spcBef>
                <a:spcPts val="0"/>
              </a:spcBef>
              <a:spcAft>
                <a:spcPts val="0"/>
              </a:spcAft>
            </a:pPr>
            <a:r>
              <a:rPr sz="1500" b="0" i="0" lang="en-US" dirty="0">
                <a:solidFill>
                  <a:srgbClr val="D5DDE4"/>
                </a:solidFill>
                <a:latin typeface="Segoe UI"/>
                <a:ea typeface="Segoe UI"/>
                <a:cs typeface="Segoe UI"/>
              </a:rPr>
              <a:t>E5 advanced security capabilities are included in E7.</a:t>
            </a:r>
          </a:p>
        </p:txBody>
      </p:sp>
      <p:sp>
        <p:nvSpPr>
          <p:cNvPr id="95" name="Rounded Rectangle 94"/>
          <p:cNvSpPr/>
          <p:nvPr/>
        </p:nvSpPr>
        <p:spPr>
          <a:xfrm>
            <a:off x="10162031" y="256032"/>
            <a:ext cx="1645920" cy="465512"/>
          </a:xfrm>
          <a:prstGeom prst="roundRect">
            <a:avLst>
              <a:gd name="adj" fmla="val 18000"/>
            </a:avLst>
          </a:prstGeom>
          <a:solidFill>
            <a:srgbClr val="0E2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6" name="Picture 95" descr="Microsoft"/>
          <p:cNvPicPr>
            <a:picLocks noChangeAspect="1"/>
          </p:cNvPicPr>
          <p:nvPr/>
        </p:nvPicPr>
        <p:blipFill>
          <a:blip r:embed="rId3"/>
          <a:stretch>
            <a:fillRect/>
          </a:stretch>
        </p:blipFill>
        <p:spPr>
          <a:xfrm>
            <a:off x="10299191" y="329184"/>
            <a:ext cx="1371600" cy="319208"/>
          </a:xfrm>
          <a:prstGeom prst="rect">
            <a:avLst/>
          </a:prstGeom>
        </p:spPr>
      </p:pic>
    </p:spTree>
    <p:extLst>
      <p:ext uri="{BB962C8B-B14F-4D97-AF65-F5344CB8AC3E}">
        <p14:creationId xmlns:p14="http://schemas.microsoft.com/office/powerpoint/2010/main" val="3358976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E"/>
        </a:solidFill>
        <a:effectLst/>
      </p:bgPr>
    </p:bg>
    <p:spTree>
      <p:nvGrpSpPr>
        <p:cNvPr id="1" name="">
          <a:extLst>
            <a:ext uri="{FF2B5EF4-FFF2-40B4-BE49-F238E27FC236}">
              <a16:creationId xmlns:a16="http://schemas.microsoft.com/office/drawing/2014/main" id="{56A5A732-55AB-8A4F-ED1D-9F3B0D65E821}"/>
            </a:ext>
          </a:extLst>
        </p:cNvPr>
        <p:cNvGrpSpPr/>
        <p:nvPr/>
      </p:nvGrpSpPr>
      <p:grpSpPr>
        <a:xfrm>
          <a:off x="0" y="0"/>
          <a:ext cx="0" cy="0"/>
          <a:chOff x="0" y="0"/>
          <a:chExt cx="0" cy="0"/>
        </a:xfrm>
      </p:grpSpPr>
      <p:sp>
        <p:nvSpPr>
          <p:cNvPr id="130" name="TextBox 129"/>
          <p:cNvSpPr txBox="1"/>
          <p:nvPr/>
        </p:nvSpPr>
        <p:spPr>
          <a:xfrm>
            <a:off x="530352" y="274320"/>
            <a:ext cx="9281160" cy="585216"/>
          </a:xfrm>
          <a:prstGeom prst="rect">
            <a:avLst/>
          </a:prstGeom>
          <a:noFill/>
        </p:spPr>
        <p:txBody>
          <a:bodyPr wrap="square" lIns="0" rIns="0" tIns="18288" bIns="18288" anchor="t"/>
          <a:lstStyle/>
          <a:p>
            <a:pPr algn="l">
              <a:spcBef>
                <a:spcPts val="0"/>
              </a:spcBef>
              <a:spcAft>
                <a:spcPts val="0"/>
              </a:spcAft>
            </a:pPr>
            <a:r>
              <a:rPr sz="3200" b="0" i="0" lang="en-US" dirty="0">
                <a:solidFill>
                  <a:srgbClr val="122033"/>
                </a:solidFill>
                <a:latin typeface="Segoe UI Light"/>
                <a:ea typeface="Segoe UI Light"/>
                <a:cs typeface="Segoe UI Light"/>
              </a:rPr>
              <a:t>Microsoft Agent 365</a:t>
            </a:r>
          </a:p>
        </p:txBody>
      </p:sp>
      <p:sp>
        <p:nvSpPr>
          <p:cNvPr id="131" name="Rectangle 130"/>
          <p:cNvSpPr/>
          <p:nvPr/>
        </p:nvSpPr>
        <p:spPr>
          <a:xfrm>
            <a:off x="548640" y="932688"/>
            <a:ext cx="1417320" cy="16459"/>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2" name="TextBox 131"/>
          <p:cNvSpPr txBox="1"/>
          <p:nvPr/>
        </p:nvSpPr>
        <p:spPr>
          <a:xfrm>
            <a:off x="530352" y="1042415"/>
            <a:ext cx="9326880" cy="420624"/>
          </a:xfrm>
          <a:prstGeom prst="rect">
            <a:avLst/>
          </a:prstGeom>
          <a:noFill/>
        </p:spPr>
        <p:txBody>
          <a:bodyPr wrap="square" lIns="0" rIns="0" tIns="18288" bIns="18288" anchor="t"/>
          <a:lstStyle/>
          <a:p>
            <a:pPr algn="l">
              <a:spcBef>
                <a:spcPts val="0"/>
              </a:spcBef>
              <a:spcAft>
                <a:spcPts val="0"/>
              </a:spcAft>
            </a:pPr>
            <a:r>
              <a:rPr sz="1800" b="0" i="0" lang="en-US" dirty="0">
                <a:solidFill>
                  <a:srgbClr val="0E2438"/>
                </a:solidFill>
                <a:latin typeface="Segoe UI"/>
                <a:ea typeface="Segoe UI"/>
                <a:cs typeface="Segoe UI"/>
              </a:rPr>
              <a:t>The control plane for agents.</a:t>
            </a:r>
          </a:p>
        </p:txBody>
      </p:sp>
      <p:sp>
        <p:nvSpPr>
          <p:cNvPr id="133" name="Rounded Rectangle 132"/>
          <p:cNvSpPr/>
          <p:nvPr/>
        </p:nvSpPr>
        <p:spPr>
          <a:xfrm>
            <a:off x="457200" y="1591056"/>
            <a:ext cx="3649471" cy="294436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4" name="Rectangle 133"/>
          <p:cNvSpPr/>
          <p:nvPr/>
        </p:nvSpPr>
        <p:spPr>
          <a:xfrm>
            <a:off x="457200" y="1591056"/>
            <a:ext cx="64008" cy="294436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5" name="TextBox 134"/>
          <p:cNvSpPr txBox="1"/>
          <p:nvPr/>
        </p:nvSpPr>
        <p:spPr>
          <a:xfrm>
            <a:off x="676656" y="1792224"/>
            <a:ext cx="3265423" cy="257860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01    OBSERVE</a:t>
            </a:r>
          </a:p>
          <a:p>
            <a:pPr algn="l">
              <a:spcBef>
                <a:spcPts val="0"/>
              </a:spcBef>
              <a:spcAft>
                <a:spcPts val="600"/>
              </a:spcAft>
            </a:pPr>
            <a:r>
              <a:rPr sz="2600" b="0" i="0" lang="en-US" dirty="0">
                <a:solidFill>
                  <a:srgbClr val="122033"/>
                </a:solidFill>
                <a:latin typeface="Segoe UI Light"/>
                <a:ea typeface="Segoe UI Light"/>
                <a:cs typeface="Segoe UI Light"/>
              </a:rPr>
              <a:t>See every agent</a:t>
            </a:r>
          </a:p>
          <a:p>
            <a:pPr algn="l">
              <a:spcBef>
                <a:spcPts val="0"/>
              </a:spcBef>
              <a:spcAft>
                <a:spcPts val="0"/>
              </a:spcAft>
            </a:pPr>
            <a:r>
              <a:rPr sz="1400" b="0" i="0" lang="en-US" dirty="0">
                <a:solidFill>
                  <a:srgbClr val="5E6A75"/>
                </a:solidFill>
                <a:latin typeface="Segoe UI"/>
                <a:ea typeface="Segoe UI"/>
                <a:cs typeface="Segoe UI"/>
              </a:rPr>
              <a:t>You cannot control what you cannot see. Monitor and manage agents in real time.</a:t>
            </a:r>
          </a:p>
        </p:txBody>
      </p:sp>
      <p:sp>
        <p:nvSpPr>
          <p:cNvPr id="136" name="Rounded Rectangle 135"/>
          <p:cNvSpPr/>
          <p:nvPr/>
        </p:nvSpPr>
        <p:spPr>
          <a:xfrm>
            <a:off x="4271263" y="1591056"/>
            <a:ext cx="3649471" cy="2944368"/>
          </a:xfrm>
          <a:prstGeom prst="roundRect">
            <a:avLst>
              <a:gd name="adj" fmla="val 8000"/>
            </a:avLst>
          </a:prstGeom>
          <a:solidFill>
            <a:srgbClr val="FFFFFF"/>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7" name="Rectangle 136"/>
          <p:cNvSpPr/>
          <p:nvPr/>
        </p:nvSpPr>
        <p:spPr>
          <a:xfrm>
            <a:off x="4271263" y="1591056"/>
            <a:ext cx="64008" cy="2944368"/>
          </a:xfrm>
          <a:prstGeom prst="rect">
            <a:avLst/>
          </a:prstGeom>
          <a:solidFill>
            <a:srgbClr val="E4C4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8" name="TextBox 137"/>
          <p:cNvSpPr txBox="1"/>
          <p:nvPr/>
        </p:nvSpPr>
        <p:spPr>
          <a:xfrm>
            <a:off x="4490719" y="1792224"/>
            <a:ext cx="3265423" cy="257860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9A7B45"/>
                </a:solidFill>
                <a:latin typeface="Segoe UI Semibold"/>
                <a:ea typeface="Segoe UI Semibold"/>
                <a:cs typeface="Segoe UI Semibold"/>
              </a:rPr>
              <a:t>02    GOVERN</a:t>
            </a:r>
          </a:p>
          <a:p>
            <a:pPr algn="l">
              <a:spcBef>
                <a:spcPts val="0"/>
              </a:spcBef>
              <a:spcAft>
                <a:spcPts val="600"/>
              </a:spcAft>
            </a:pPr>
            <a:r>
              <a:rPr sz="2600" b="0" i="0" lang="en-US" dirty="0">
                <a:solidFill>
                  <a:srgbClr val="122033"/>
                </a:solidFill>
                <a:latin typeface="Segoe UI Light"/>
                <a:ea typeface="Segoe UI Light"/>
                <a:cs typeface="Segoe UI Light"/>
              </a:rPr>
              <a:t>Set the boundaries</a:t>
            </a:r>
          </a:p>
          <a:p>
            <a:pPr algn="l">
              <a:spcBef>
                <a:spcPts val="0"/>
              </a:spcBef>
              <a:spcAft>
                <a:spcPts val="0"/>
              </a:spcAft>
            </a:pPr>
            <a:r>
              <a:rPr sz="1400" b="0" i="0" lang="en-US" dirty="0">
                <a:solidFill>
                  <a:srgbClr val="5E6A75"/>
                </a:solidFill>
                <a:latin typeface="Segoe UI"/>
                <a:ea typeface="Segoe UI"/>
                <a:cs typeface="Segoe UI"/>
              </a:rPr>
              <a:t>Guardrails for agents and users, held across the full lifecycle.</a:t>
            </a:r>
          </a:p>
        </p:txBody>
      </p:sp>
      <p:sp>
        <p:nvSpPr>
          <p:cNvPr id="139" name="Rounded Rectangle 138"/>
          <p:cNvSpPr/>
          <p:nvPr/>
        </p:nvSpPr>
        <p:spPr>
          <a:xfrm>
            <a:off x="8085327" y="1591056"/>
            <a:ext cx="3649471" cy="2944368"/>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0" name="Rectangle 139"/>
          <p:cNvSpPr/>
          <p:nvPr/>
        </p:nvSpPr>
        <p:spPr>
          <a:xfrm>
            <a:off x="8085327" y="1591056"/>
            <a:ext cx="64008" cy="2944368"/>
          </a:xfrm>
          <a:prstGeom prst="rect">
            <a:avLst/>
          </a:prstGeom>
          <a:solidFill>
            <a:srgbClr val="7EC8E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1" name="TextBox 140"/>
          <p:cNvSpPr txBox="1"/>
          <p:nvPr/>
        </p:nvSpPr>
        <p:spPr>
          <a:xfrm>
            <a:off x="8304783" y="1792224"/>
            <a:ext cx="3265423" cy="2578608"/>
          </a:xfrm>
          <a:prstGeom prst="rect">
            <a:avLst/>
          </a:prstGeom>
          <a:noFill/>
        </p:spPr>
        <p:txBody>
          <a:bodyPr wrap="square" lIns="0" rIns="0" tIns="18288" bIns="18288" anchor="t"/>
          <a:lstStyle/>
          <a:p>
            <a:pPr algn="l">
              <a:spcBef>
                <a:spcPts val="0"/>
              </a:spcBef>
              <a:spcAft>
                <a:spcPts val="800"/>
              </a:spcAft>
            </a:pPr>
            <a:r>
              <a:rPr sz="1200" b="0" i="0" lang="en-US" dirty="0" spc="80">
                <a:solidFill>
                  <a:srgbClr val="7EC8E3"/>
                </a:solidFill>
                <a:latin typeface="Segoe UI Semibold"/>
                <a:ea typeface="Segoe UI Semibold"/>
                <a:cs typeface="Segoe UI Semibold"/>
              </a:rPr>
              <a:t>03    SECURE</a:t>
            </a:r>
          </a:p>
          <a:p>
            <a:pPr algn="l">
              <a:spcBef>
                <a:spcPts val="0"/>
              </a:spcBef>
              <a:spcAft>
                <a:spcPts val="600"/>
              </a:spcAft>
            </a:pPr>
            <a:r>
              <a:rPr sz="2600" b="0" i="0" lang="en-US" dirty="0">
                <a:solidFill>
                  <a:srgbClr val="FFFFFF"/>
                </a:solidFill>
                <a:latin typeface="Segoe UI Light"/>
                <a:ea typeface="Segoe UI Light"/>
                <a:cs typeface="Segoe UI Light"/>
              </a:rPr>
              <a:t>Stop the misuse</a:t>
            </a:r>
          </a:p>
          <a:p>
            <a:pPr algn="l">
              <a:spcBef>
                <a:spcPts val="0"/>
              </a:spcBef>
              <a:spcAft>
                <a:spcPts val="0"/>
              </a:spcAft>
            </a:pPr>
            <a:r>
              <a:rPr sz="1400" b="0" i="0" lang="en-US" dirty="0">
                <a:solidFill>
                  <a:srgbClr val="D5DDE4"/>
                </a:solidFill>
                <a:latin typeface="Segoe UI"/>
                <a:ea typeface="Segoe UI"/>
                <a:cs typeface="Segoe UI"/>
              </a:rPr>
              <a:t>Protect agents comprehensively, so they cannot be turned against you.</a:t>
            </a:r>
          </a:p>
        </p:txBody>
      </p:sp>
      <p:sp>
        <p:nvSpPr>
          <p:cNvPr id="142" name="Rounded Rectangle 141"/>
          <p:cNvSpPr/>
          <p:nvPr/>
        </p:nvSpPr>
        <p:spPr>
          <a:xfrm>
            <a:off x="457200" y="4718304"/>
            <a:ext cx="11283696" cy="1444752"/>
          </a:xfrm>
          <a:prstGeom prst="roundRect">
            <a:avLst>
              <a:gd name="adj" fmla="val 8000"/>
            </a:avLst>
          </a:prstGeom>
          <a:solidFill>
            <a:srgbClr val="0E2438"/>
          </a:solidFill>
          <a:ln>
            <a:noFill/>
          </a:ln>
          <a:effectLst>
            <a:outerShdw blurRad="360000" dist="70000" dir="5400000" algn="tl" rotWithShape="0">
              <a:prstClr val="black">
                <a:alpha val="14000"/>
              </a:prst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3" name="Rectangle 142"/>
          <p:cNvSpPr/>
          <p:nvPr/>
        </p:nvSpPr>
        <p:spPr>
          <a:xfrm>
            <a:off x="457200" y="4718304"/>
            <a:ext cx="64008" cy="14447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4" name="TextBox 143"/>
          <p:cNvSpPr txBox="1"/>
          <p:nvPr/>
        </p:nvSpPr>
        <p:spPr>
          <a:xfrm>
            <a:off x="749808" y="4718304"/>
            <a:ext cx="10698480" cy="1444752"/>
          </a:xfrm>
          <a:prstGeom prst="rect">
            <a:avLst/>
          </a:prstGeom>
          <a:noFill/>
        </p:spPr>
        <p:txBody>
          <a:bodyPr wrap="square" lIns="0" rIns="0" tIns="18288" bIns="18288" anchor="ctr"/>
          <a:lstStyle/>
          <a:p>
            <a:pPr algn="l">
              <a:spcBef>
                <a:spcPts val="0"/>
              </a:spcBef>
              <a:spcAft>
                <a:spcPts val="300"/>
              </a:spcAft>
            </a:pPr>
            <a:r>
              <a:rPr sz="1200" b="0" i="0" lang="en-US" dirty="0" spc="160">
                <a:solidFill>
                  <a:srgbClr val="E4C48A"/>
                </a:solidFill>
                <a:latin typeface="Segoe UI Semibold"/>
                <a:ea typeface="Segoe UI Semibold"/>
                <a:cs typeface="Segoe UI Semibold"/>
              </a:rPr>
              <a:t>FROM PEOPLE TO AGENTS</a:t>
            </a:r>
          </a:p>
          <a:p>
            <a:pPr algn="l">
              <a:spcBef>
                <a:spcPts val="0"/>
              </a:spcBef>
              <a:spcAft>
                <a:spcPts val="200"/>
              </a:spcAft>
            </a:pPr>
            <a:r>
              <a:rPr sz="2400" b="0" i="0" lang="en-US" dirty="0">
                <a:solidFill>
                  <a:srgbClr val="FFFFFF"/>
                </a:solidFill>
                <a:latin typeface="Segoe UI Light"/>
                <a:ea typeface="Segoe UI Light"/>
                <a:cs typeface="Segoe UI Light"/>
              </a:rPr>
              <a:t>The same control you already trust.</a:t>
            </a:r>
          </a:p>
          <a:p>
            <a:pPr algn="l">
              <a:spcBef>
                <a:spcPts val="0"/>
              </a:spcBef>
              <a:spcAft>
                <a:spcPts val="0"/>
              </a:spcAft>
            </a:pPr>
            <a:r>
              <a:rPr sz="1500" b="0" i="0" lang="en-US" dirty="0">
                <a:solidFill>
                  <a:srgbClr val="D5DDE4"/>
                </a:solidFill>
                <a:latin typeface="Segoe UI"/>
                <a:ea typeface="Segoe UI"/>
                <a:cs typeface="Segoe UI"/>
              </a:rPr>
              <a:t>Extended to every agent in the environment.</a:t>
            </a:r>
          </a:p>
        </p:txBody>
      </p:sp>
      <p:sp>
        <p:nvSpPr>
          <p:cNvPr id="145" name="Rounded Rectangle 144"/>
          <p:cNvSpPr/>
          <p:nvPr/>
        </p:nvSpPr>
        <p:spPr>
          <a:xfrm>
            <a:off x="10162031" y="256032"/>
            <a:ext cx="1645920" cy="465512"/>
          </a:xfrm>
          <a:prstGeom prst="roundRect">
            <a:avLst>
              <a:gd name="adj" fmla="val 18000"/>
            </a:avLst>
          </a:prstGeom>
          <a:solidFill>
            <a:srgbClr val="0E243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6" name="Picture 145" descr="Microsoft"/>
          <p:cNvPicPr>
            <a:picLocks noChangeAspect="1"/>
          </p:cNvPicPr>
          <p:nvPr/>
        </p:nvPicPr>
        <p:blipFill>
          <a:blip r:embed="rId4"/>
          <a:stretch>
            <a:fillRect/>
          </a:stretch>
        </p:blipFill>
        <p:spPr>
          <a:xfrm>
            <a:off x="10299191" y="329184"/>
            <a:ext cx="1371600" cy="319208"/>
          </a:xfrm>
          <a:prstGeom prst="rect">
            <a:avLst/>
          </a:prstGeom>
        </p:spPr>
      </p:pic>
    </p:spTree>
    <p:custDataLst>
      <p:tags r:id="rId1"/>
    </p:custDataLst>
    <p:extLst>
      <p:ext uri="{BB962C8B-B14F-4D97-AF65-F5344CB8AC3E}">
        <p14:creationId xmlns:p14="http://schemas.microsoft.com/office/powerpoint/2010/main" val="156623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A person striding through a bright glass atrium."/>
          <p:cNvPicPr>
            <a:picLocks noChangeAspect="1"/>
          </p:cNvPicPr>
          <p:nvPr/>
        </p:nvPicPr>
        <p:blipFill>
          <a:blip r:embed="rId3"/>
          <a:stretch>
            <a:fillRect/>
          </a:stretch>
        </p:blipFill>
        <p:spPr>
          <a:xfrm>
            <a:off x="0" y="0"/>
            <a:ext cx="4160520" cy="6858000"/>
          </a:xfrm>
          <a:prstGeom prst="rect">
            <a:avLst/>
          </a:prstGeom>
        </p:spPr>
      </p:pic>
      <p:sp>
        <p:nvSpPr>
          <p:cNvPr id="3" name="Rectangle 2"/>
          <p:cNvSpPr/>
          <p:nvPr/>
        </p:nvSpPr>
        <p:spPr>
          <a:xfrm>
            <a:off x="3703320" y="0"/>
            <a:ext cx="548640" cy="6858000"/>
          </a:xfrm>
          <a:prstGeom prst="rect">
            <a:avLst/>
          </a:prstGeom>
          <a:gradFill rotWithShape="1">
            <a:gsLst>
              <a:gs pos="0">
                <a:srgbClr val="FFFFFF">
                  <a:alpha val="0"/>
                </a:srgbClr>
              </a:gs>
              <a:gs pos="100000">
                <a:srgbClr val="FFFFFF"/>
              </a:gs>
            </a:gsLst>
            <a:lin ang="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4407408" y="438912"/>
            <a:ext cx="7406640" cy="868680"/>
          </a:xfrm>
          <a:prstGeom prst="rect">
            <a:avLst/>
          </a:prstGeom>
          <a:noFill/>
        </p:spPr>
        <p:txBody>
          <a:bodyPr wrap="square" lIns="0" tIns="18288" rIns="0" bIns="18288" anchor="t"/>
          <a:lstStyle/>
          <a:p>
            <a:pPr algn="l">
              <a:lnSpc>
                <a:spcPct val="94000"/>
              </a:lnSpc>
              <a:spcBef>
                <a:spcPts val="0"/>
              </a:spcBef>
              <a:spcAft>
                <a:spcPts val="0"/>
              </a:spcAft>
            </a:pPr>
            <a:r>
              <a:rPr lang="en-US" sz="3000" b="0" i="0" dirty="0">
                <a:solidFill>
                  <a:srgbClr val="102033"/>
                </a:solidFill>
                <a:latin typeface="Segoe UI Light"/>
                <a:ea typeface="Segoe UI Light"/>
                <a:cs typeface="Segoe UI Light"/>
              </a:rPr>
              <a:t>Security creates
business velocity</a:t>
            </a:r>
          </a:p>
        </p:txBody>
      </p:sp>
      <p:sp>
        <p:nvSpPr>
          <p:cNvPr id="6" name="TextBox 5"/>
          <p:cNvSpPr txBox="1"/>
          <p:nvPr/>
        </p:nvSpPr>
        <p:spPr>
          <a:xfrm>
            <a:off x="4434840" y="1444752"/>
            <a:ext cx="365760" cy="292608"/>
          </a:xfrm>
          <a:prstGeom prst="rect">
            <a:avLst/>
          </a:prstGeom>
          <a:noFill/>
        </p:spPr>
        <p:txBody>
          <a:bodyPr wrap="square" lIns="0" tIns="18288" rIns="0" bIns="18288" anchor="t"/>
          <a:lstStyle/>
          <a:p>
            <a:pPr algn="l">
              <a:spcBef>
                <a:spcPts val="0"/>
              </a:spcBef>
              <a:spcAft>
                <a:spcPts val="0"/>
              </a:spcAft>
            </a:pPr>
            <a:r>
              <a:rPr lang="en-US" sz="1300" b="0" i="0" dirty="0">
                <a:solidFill>
                  <a:srgbClr val="0078D4"/>
                </a:solidFill>
                <a:latin typeface="Segoe UI Semibold"/>
                <a:ea typeface="Segoe UI Semibold"/>
                <a:cs typeface="Segoe UI Semibold"/>
              </a:rPr>
              <a:t>01</a:t>
            </a:r>
          </a:p>
        </p:txBody>
      </p:sp>
      <p:sp>
        <p:nvSpPr>
          <p:cNvPr id="7" name="TextBox 6"/>
          <p:cNvSpPr txBox="1"/>
          <p:nvPr/>
        </p:nvSpPr>
        <p:spPr>
          <a:xfrm>
            <a:off x="4818888" y="1426464"/>
            <a:ext cx="3246120" cy="530352"/>
          </a:xfrm>
          <a:prstGeom prst="rect">
            <a:avLst/>
          </a:prstGeom>
          <a:noFill/>
        </p:spPr>
        <p:txBody>
          <a:bodyPr wrap="square" lIns="0" tIns="18288" rIns="0" bIns="18288" anchor="t"/>
          <a:lstStyle/>
          <a:p>
            <a:pPr algn="l">
              <a:spcBef>
                <a:spcPts val="0"/>
              </a:spcBef>
              <a:spcAft>
                <a:spcPts val="0"/>
              </a:spcAft>
            </a:pPr>
            <a:r>
              <a:rPr lang="en-US" sz="1500" b="0" i="0" dirty="0">
                <a:solidFill>
                  <a:srgbClr val="102033"/>
                </a:solidFill>
                <a:latin typeface="Segoe UI Semibold"/>
                <a:ea typeface="Segoe UI Semibold"/>
                <a:cs typeface="Segoe UI Semibold"/>
              </a:rPr>
              <a:t>Move faster</a:t>
            </a:r>
          </a:p>
          <a:p>
            <a:pPr algn="l">
              <a:spcBef>
                <a:spcPts val="0"/>
              </a:spcBef>
              <a:spcAft>
                <a:spcPts val="0"/>
              </a:spcAft>
            </a:pPr>
            <a:r>
              <a:rPr lang="en-US" sz="1200" b="0" i="0" dirty="0">
                <a:solidFill>
                  <a:srgbClr val="5E6A75"/>
                </a:solidFill>
                <a:latin typeface="Segoe UI"/>
                <a:ea typeface="Segoe UI"/>
                <a:cs typeface="Segoe UI"/>
              </a:rPr>
              <a:t>Say yes to AI initiatives sooner</a:t>
            </a:r>
          </a:p>
        </p:txBody>
      </p:sp>
      <p:sp>
        <p:nvSpPr>
          <p:cNvPr id="8" name="TextBox 7"/>
          <p:cNvSpPr txBox="1"/>
          <p:nvPr/>
        </p:nvSpPr>
        <p:spPr>
          <a:xfrm>
            <a:off x="8183879" y="1444752"/>
            <a:ext cx="365760" cy="292608"/>
          </a:xfrm>
          <a:prstGeom prst="rect">
            <a:avLst/>
          </a:prstGeom>
          <a:noFill/>
        </p:spPr>
        <p:txBody>
          <a:bodyPr wrap="square" lIns="0" tIns="18288" rIns="0" bIns="18288" anchor="t"/>
          <a:lstStyle/>
          <a:p>
            <a:pPr algn="l">
              <a:spcBef>
                <a:spcPts val="0"/>
              </a:spcBef>
              <a:spcAft>
                <a:spcPts val="0"/>
              </a:spcAft>
            </a:pPr>
            <a:r>
              <a:rPr lang="en-US" sz="1300" b="0" i="0" dirty="0">
                <a:solidFill>
                  <a:srgbClr val="0078D4"/>
                </a:solidFill>
                <a:latin typeface="Segoe UI Semibold"/>
                <a:ea typeface="Segoe UI Semibold"/>
                <a:cs typeface="Segoe UI Semibold"/>
              </a:rPr>
              <a:t>02</a:t>
            </a:r>
          </a:p>
        </p:txBody>
      </p:sp>
      <p:sp>
        <p:nvSpPr>
          <p:cNvPr id="9" name="TextBox 8"/>
          <p:cNvSpPr txBox="1"/>
          <p:nvPr/>
        </p:nvSpPr>
        <p:spPr>
          <a:xfrm>
            <a:off x="8567928" y="1426464"/>
            <a:ext cx="3246120" cy="530352"/>
          </a:xfrm>
          <a:prstGeom prst="rect">
            <a:avLst/>
          </a:prstGeom>
          <a:noFill/>
        </p:spPr>
        <p:txBody>
          <a:bodyPr wrap="square" lIns="0" tIns="18288" rIns="0" bIns="18288" anchor="t"/>
          <a:lstStyle/>
          <a:p>
            <a:pPr algn="l">
              <a:spcBef>
                <a:spcPts val="0"/>
              </a:spcBef>
              <a:spcAft>
                <a:spcPts val="0"/>
              </a:spcAft>
            </a:pPr>
            <a:r>
              <a:rPr lang="en-US" sz="1500" b="0" i="0" dirty="0">
                <a:solidFill>
                  <a:srgbClr val="102033"/>
                </a:solidFill>
                <a:latin typeface="Segoe UI Semibold"/>
                <a:ea typeface="Segoe UI Semibold"/>
                <a:cs typeface="Segoe UI Semibold"/>
              </a:rPr>
              <a:t>Innovate confidently</a:t>
            </a:r>
          </a:p>
          <a:p>
            <a:pPr algn="l">
              <a:spcBef>
                <a:spcPts val="0"/>
              </a:spcBef>
              <a:spcAft>
                <a:spcPts val="0"/>
              </a:spcAft>
            </a:pPr>
            <a:r>
              <a:rPr lang="en-US" sz="1200" b="0" i="0" dirty="0">
                <a:solidFill>
                  <a:srgbClr val="5E6A75"/>
                </a:solidFill>
                <a:latin typeface="Segoe UI"/>
                <a:ea typeface="Segoe UI"/>
                <a:cs typeface="Segoe UI"/>
              </a:rPr>
              <a:t>Guardrails already in place</a:t>
            </a:r>
          </a:p>
        </p:txBody>
      </p:sp>
      <p:sp>
        <p:nvSpPr>
          <p:cNvPr id="10" name="TextBox 9"/>
          <p:cNvSpPr txBox="1"/>
          <p:nvPr/>
        </p:nvSpPr>
        <p:spPr>
          <a:xfrm>
            <a:off x="4434840" y="2011680"/>
            <a:ext cx="365760" cy="292608"/>
          </a:xfrm>
          <a:prstGeom prst="rect">
            <a:avLst/>
          </a:prstGeom>
          <a:noFill/>
        </p:spPr>
        <p:txBody>
          <a:bodyPr wrap="square" lIns="0" tIns="18288" rIns="0" bIns="18288" anchor="t"/>
          <a:lstStyle/>
          <a:p>
            <a:pPr algn="l">
              <a:spcBef>
                <a:spcPts val="0"/>
              </a:spcBef>
              <a:spcAft>
                <a:spcPts val="0"/>
              </a:spcAft>
            </a:pPr>
            <a:r>
              <a:rPr lang="en-US" sz="1300" b="0" i="0" dirty="0">
                <a:solidFill>
                  <a:srgbClr val="0078D4"/>
                </a:solidFill>
                <a:latin typeface="Segoe UI Semibold"/>
                <a:ea typeface="Segoe UI Semibold"/>
                <a:cs typeface="Segoe UI Semibold"/>
              </a:rPr>
              <a:t>03</a:t>
            </a:r>
          </a:p>
        </p:txBody>
      </p:sp>
      <p:sp>
        <p:nvSpPr>
          <p:cNvPr id="11" name="TextBox 10"/>
          <p:cNvSpPr txBox="1"/>
          <p:nvPr/>
        </p:nvSpPr>
        <p:spPr>
          <a:xfrm>
            <a:off x="4818888" y="1993392"/>
            <a:ext cx="3246120" cy="530352"/>
          </a:xfrm>
          <a:prstGeom prst="rect">
            <a:avLst/>
          </a:prstGeom>
          <a:noFill/>
        </p:spPr>
        <p:txBody>
          <a:bodyPr wrap="square" lIns="0" tIns="18288" rIns="0" bIns="18288" anchor="t"/>
          <a:lstStyle/>
          <a:p>
            <a:pPr algn="l">
              <a:spcBef>
                <a:spcPts val="0"/>
              </a:spcBef>
              <a:spcAft>
                <a:spcPts val="0"/>
              </a:spcAft>
            </a:pPr>
            <a:r>
              <a:rPr lang="en-US" sz="1500" b="0" i="0" dirty="0">
                <a:solidFill>
                  <a:srgbClr val="102033"/>
                </a:solidFill>
                <a:latin typeface="Segoe UI Semibold"/>
                <a:ea typeface="Segoe UI Semibold"/>
                <a:cs typeface="Segoe UI Semibold"/>
              </a:rPr>
              <a:t>Reduce friction</a:t>
            </a:r>
          </a:p>
          <a:p>
            <a:pPr algn="l">
              <a:spcBef>
                <a:spcPts val="0"/>
              </a:spcBef>
              <a:spcAft>
                <a:spcPts val="0"/>
              </a:spcAft>
            </a:pPr>
            <a:r>
              <a:rPr lang="en-US" sz="1200" b="0" i="0" dirty="0">
                <a:solidFill>
                  <a:srgbClr val="5E6A75"/>
                </a:solidFill>
                <a:latin typeface="Segoe UI"/>
                <a:ea typeface="Segoe UI"/>
                <a:cs typeface="Segoe UI"/>
              </a:rPr>
              <a:t>Security that stays out of the way</a:t>
            </a:r>
          </a:p>
        </p:txBody>
      </p:sp>
      <p:sp>
        <p:nvSpPr>
          <p:cNvPr id="12" name="TextBox 11"/>
          <p:cNvSpPr txBox="1"/>
          <p:nvPr/>
        </p:nvSpPr>
        <p:spPr>
          <a:xfrm>
            <a:off x="8183879" y="2011680"/>
            <a:ext cx="365760" cy="292608"/>
          </a:xfrm>
          <a:prstGeom prst="rect">
            <a:avLst/>
          </a:prstGeom>
          <a:noFill/>
        </p:spPr>
        <p:txBody>
          <a:bodyPr wrap="square" lIns="0" tIns="18288" rIns="0" bIns="18288" anchor="t"/>
          <a:lstStyle/>
          <a:p>
            <a:pPr algn="l">
              <a:spcBef>
                <a:spcPts val="0"/>
              </a:spcBef>
              <a:spcAft>
                <a:spcPts val="0"/>
              </a:spcAft>
            </a:pPr>
            <a:r>
              <a:rPr lang="en-US" sz="1300" b="0" i="0" dirty="0">
                <a:solidFill>
                  <a:srgbClr val="0078D4"/>
                </a:solidFill>
                <a:latin typeface="Segoe UI Semibold"/>
                <a:ea typeface="Segoe UI Semibold"/>
                <a:cs typeface="Segoe UI Semibold"/>
              </a:rPr>
              <a:t>04</a:t>
            </a:r>
          </a:p>
        </p:txBody>
      </p:sp>
      <p:sp>
        <p:nvSpPr>
          <p:cNvPr id="13" name="TextBox 12"/>
          <p:cNvSpPr txBox="1"/>
          <p:nvPr/>
        </p:nvSpPr>
        <p:spPr>
          <a:xfrm>
            <a:off x="8567928" y="1993392"/>
            <a:ext cx="3246120" cy="530352"/>
          </a:xfrm>
          <a:prstGeom prst="rect">
            <a:avLst/>
          </a:prstGeom>
          <a:noFill/>
        </p:spPr>
        <p:txBody>
          <a:bodyPr wrap="square" lIns="0" tIns="18288" rIns="0" bIns="18288" anchor="t"/>
          <a:lstStyle/>
          <a:p>
            <a:pPr algn="l">
              <a:spcBef>
                <a:spcPts val="0"/>
              </a:spcBef>
              <a:spcAft>
                <a:spcPts val="0"/>
              </a:spcAft>
            </a:pPr>
            <a:r>
              <a:rPr lang="en-US" sz="1500" b="0" i="0" dirty="0">
                <a:solidFill>
                  <a:srgbClr val="102033"/>
                </a:solidFill>
                <a:latin typeface="Segoe UI Semibold"/>
                <a:ea typeface="Segoe UI Semibold"/>
                <a:cs typeface="Segoe UI Semibold"/>
              </a:rPr>
              <a:t>Simplify operations</a:t>
            </a:r>
          </a:p>
          <a:p>
            <a:pPr algn="l">
              <a:spcBef>
                <a:spcPts val="0"/>
              </a:spcBef>
              <a:spcAft>
                <a:spcPts val="0"/>
              </a:spcAft>
            </a:pPr>
            <a:r>
              <a:rPr lang="en-US" sz="1200" b="0" i="0" dirty="0">
                <a:solidFill>
                  <a:srgbClr val="5E6A75"/>
                </a:solidFill>
                <a:latin typeface="Segoe UI"/>
                <a:ea typeface="Segoe UI"/>
                <a:cs typeface="Segoe UI"/>
              </a:rPr>
              <a:t>One platform, not point tools</a:t>
            </a:r>
          </a:p>
        </p:txBody>
      </p:sp>
      <p:sp>
        <p:nvSpPr>
          <p:cNvPr id="14" name="TextBox 13"/>
          <p:cNvSpPr txBox="1"/>
          <p:nvPr/>
        </p:nvSpPr>
        <p:spPr>
          <a:xfrm>
            <a:off x="4434840" y="2578608"/>
            <a:ext cx="365760" cy="292608"/>
          </a:xfrm>
          <a:prstGeom prst="rect">
            <a:avLst/>
          </a:prstGeom>
          <a:noFill/>
        </p:spPr>
        <p:txBody>
          <a:bodyPr wrap="square" lIns="0" tIns="18288" rIns="0" bIns="18288" anchor="t"/>
          <a:lstStyle/>
          <a:p>
            <a:pPr algn="l">
              <a:spcBef>
                <a:spcPts val="0"/>
              </a:spcBef>
              <a:spcAft>
                <a:spcPts val="0"/>
              </a:spcAft>
            </a:pPr>
            <a:r>
              <a:rPr lang="en-US" sz="1300" b="0" i="0" dirty="0">
                <a:solidFill>
                  <a:srgbClr val="0078D4"/>
                </a:solidFill>
                <a:latin typeface="Segoe UI Semibold"/>
                <a:ea typeface="Segoe UI Semibold"/>
                <a:cs typeface="Segoe UI Semibold"/>
              </a:rPr>
              <a:t>05</a:t>
            </a:r>
          </a:p>
        </p:txBody>
      </p:sp>
      <p:sp>
        <p:nvSpPr>
          <p:cNvPr id="15" name="TextBox 14"/>
          <p:cNvSpPr txBox="1"/>
          <p:nvPr/>
        </p:nvSpPr>
        <p:spPr>
          <a:xfrm>
            <a:off x="4818888" y="2560320"/>
            <a:ext cx="3246120" cy="530352"/>
          </a:xfrm>
          <a:prstGeom prst="rect">
            <a:avLst/>
          </a:prstGeom>
          <a:noFill/>
        </p:spPr>
        <p:txBody>
          <a:bodyPr wrap="square" lIns="0" tIns="18288" rIns="0" bIns="18288" anchor="t"/>
          <a:lstStyle/>
          <a:p>
            <a:pPr algn="l">
              <a:spcBef>
                <a:spcPts val="0"/>
              </a:spcBef>
              <a:spcAft>
                <a:spcPts val="0"/>
              </a:spcAft>
            </a:pPr>
            <a:r>
              <a:rPr lang="en-US" sz="1500" b="0" i="0" dirty="0">
                <a:solidFill>
                  <a:srgbClr val="102033"/>
                </a:solidFill>
                <a:latin typeface="Segoe UI Semibold"/>
                <a:ea typeface="Segoe UI Semibold"/>
                <a:cs typeface="Segoe UI Semibold"/>
              </a:rPr>
              <a:t>Empower people</a:t>
            </a:r>
          </a:p>
          <a:p>
            <a:pPr algn="l">
              <a:spcBef>
                <a:spcPts val="0"/>
              </a:spcBef>
              <a:spcAft>
                <a:spcPts val="0"/>
              </a:spcAft>
            </a:pPr>
            <a:r>
              <a:rPr lang="en-US" sz="1200" b="0" i="0" dirty="0">
                <a:solidFill>
                  <a:srgbClr val="5E6A75"/>
                </a:solidFill>
                <a:latin typeface="Segoe UI"/>
                <a:ea typeface="Segoe UI"/>
                <a:cs typeface="Segoe UI"/>
              </a:rPr>
              <a:t>Defenders focus on what matters</a:t>
            </a:r>
          </a:p>
        </p:txBody>
      </p:sp>
      <p:sp>
        <p:nvSpPr>
          <p:cNvPr id="16" name="TextBox 15"/>
          <p:cNvSpPr txBox="1"/>
          <p:nvPr/>
        </p:nvSpPr>
        <p:spPr>
          <a:xfrm>
            <a:off x="8183879" y="2578608"/>
            <a:ext cx="365760" cy="292608"/>
          </a:xfrm>
          <a:prstGeom prst="rect">
            <a:avLst/>
          </a:prstGeom>
          <a:noFill/>
        </p:spPr>
        <p:txBody>
          <a:bodyPr wrap="square" lIns="0" tIns="18288" rIns="0" bIns="18288" anchor="t"/>
          <a:lstStyle/>
          <a:p>
            <a:pPr algn="l">
              <a:spcBef>
                <a:spcPts val="0"/>
              </a:spcBef>
              <a:spcAft>
                <a:spcPts val="0"/>
              </a:spcAft>
            </a:pPr>
            <a:r>
              <a:rPr lang="en-US" sz="1300" b="0" i="0" dirty="0">
                <a:solidFill>
                  <a:srgbClr val="0078D4"/>
                </a:solidFill>
                <a:latin typeface="Segoe UI Semibold"/>
                <a:ea typeface="Segoe UI Semibold"/>
                <a:cs typeface="Segoe UI Semibold"/>
              </a:rPr>
              <a:t>06</a:t>
            </a:r>
          </a:p>
        </p:txBody>
      </p:sp>
      <p:sp>
        <p:nvSpPr>
          <p:cNvPr id="17" name="TextBox 16"/>
          <p:cNvSpPr txBox="1"/>
          <p:nvPr/>
        </p:nvSpPr>
        <p:spPr>
          <a:xfrm>
            <a:off x="8567928" y="2560320"/>
            <a:ext cx="3246120" cy="530352"/>
          </a:xfrm>
          <a:prstGeom prst="rect">
            <a:avLst/>
          </a:prstGeom>
          <a:noFill/>
        </p:spPr>
        <p:txBody>
          <a:bodyPr wrap="square" lIns="0" tIns="18288" rIns="0" bIns="18288" anchor="t"/>
          <a:lstStyle/>
          <a:p>
            <a:pPr algn="l">
              <a:spcBef>
                <a:spcPts val="0"/>
              </a:spcBef>
              <a:spcAft>
                <a:spcPts val="0"/>
              </a:spcAft>
            </a:pPr>
            <a:r>
              <a:rPr lang="en-US" sz="1500" b="0" i="0" dirty="0">
                <a:solidFill>
                  <a:srgbClr val="102033"/>
                </a:solidFill>
                <a:latin typeface="Segoe UI Semibold"/>
                <a:ea typeface="Segoe UI Semibold"/>
                <a:cs typeface="Segoe UI Semibold"/>
              </a:rPr>
              <a:t>Scale AI responsibly</a:t>
            </a:r>
          </a:p>
          <a:p>
            <a:pPr algn="l">
              <a:spcBef>
                <a:spcPts val="0"/>
              </a:spcBef>
              <a:spcAft>
                <a:spcPts val="0"/>
              </a:spcAft>
            </a:pPr>
            <a:r>
              <a:rPr lang="en-US" sz="1200" b="0" i="0" dirty="0">
                <a:solidFill>
                  <a:srgbClr val="5E6A75"/>
                </a:solidFill>
                <a:latin typeface="Segoe UI"/>
                <a:ea typeface="Segoe UI"/>
                <a:cs typeface="Segoe UI"/>
              </a:rPr>
              <a:t>Govern every agent and dataset</a:t>
            </a:r>
          </a:p>
        </p:txBody>
      </p:sp>
      <p:sp>
        <p:nvSpPr>
          <p:cNvPr id="18" name="Rounded Rectangle 17"/>
          <p:cNvSpPr/>
          <p:nvPr/>
        </p:nvSpPr>
        <p:spPr>
          <a:xfrm>
            <a:off x="4434840" y="3273552"/>
            <a:ext cx="2880360" cy="1554480"/>
          </a:xfrm>
          <a:prstGeom prst="roundRect">
            <a:avLst>
              <a:gd name="adj" fmla="val 10000"/>
            </a:avLst>
          </a:prstGeom>
          <a:solidFill>
            <a:srgbClr val="0E243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4526280" y="3364992"/>
            <a:ext cx="2697480" cy="1371600"/>
          </a:xfrm>
          <a:prstGeom prst="rect">
            <a:avLst/>
          </a:prstGeom>
          <a:noFill/>
        </p:spPr>
        <p:txBody>
          <a:bodyPr wrap="square" lIns="0" tIns="18288" rIns="0" bIns="18288" anchor="ctr"/>
          <a:lstStyle/>
          <a:p>
            <a:pPr algn="ctr">
              <a:spcBef>
                <a:spcPts val="0"/>
              </a:spcBef>
              <a:spcAft>
                <a:spcPts val="0"/>
              </a:spcAft>
            </a:pPr>
            <a:r>
              <a:rPr lang="en-US" sz="4200" b="0" i="0" dirty="0">
                <a:solidFill>
                  <a:srgbClr val="FFFFFF"/>
                </a:solidFill>
                <a:latin typeface="Segoe UI Light"/>
                <a:ea typeface="Segoe UI Light"/>
                <a:cs typeface="Segoe UI Light"/>
              </a:rPr>
              <a:t>124%</a:t>
            </a:r>
          </a:p>
          <a:p>
            <a:pPr algn="ctr">
              <a:spcBef>
                <a:spcPts val="0"/>
              </a:spcBef>
              <a:spcAft>
                <a:spcPts val="0"/>
              </a:spcAft>
            </a:pPr>
            <a:r>
              <a:rPr lang="en-US" sz="1300" b="0" i="0" dirty="0">
                <a:solidFill>
                  <a:srgbClr val="9ADCF2"/>
                </a:solidFill>
                <a:latin typeface="Segoe UI"/>
                <a:ea typeface="Segoe UI"/>
                <a:cs typeface="Segoe UI"/>
              </a:rPr>
              <a:t>projected ROI</a:t>
            </a:r>
          </a:p>
        </p:txBody>
      </p:sp>
      <p:sp>
        <p:nvSpPr>
          <p:cNvPr id="20" name="Rounded Rectangle 19"/>
          <p:cNvSpPr/>
          <p:nvPr/>
        </p:nvSpPr>
        <p:spPr>
          <a:xfrm>
            <a:off x="7452360" y="3273552"/>
            <a:ext cx="1417320" cy="1554480"/>
          </a:xfrm>
          <a:prstGeom prst="roundRect">
            <a:avLst>
              <a:gd name="adj" fmla="val 10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7507224" y="3383280"/>
            <a:ext cx="1307592" cy="1335024"/>
          </a:xfrm>
          <a:prstGeom prst="rect">
            <a:avLst/>
          </a:prstGeom>
          <a:noFill/>
        </p:spPr>
        <p:txBody>
          <a:bodyPr wrap="square" lIns="0" tIns="18288" rIns="0" bIns="18288" anchor="ctr"/>
          <a:lstStyle/>
          <a:p>
            <a:pPr algn="ctr">
              <a:spcBef>
                <a:spcPts val="0"/>
              </a:spcBef>
              <a:spcAft>
                <a:spcPts val="200"/>
              </a:spcAft>
            </a:pPr>
            <a:r>
              <a:rPr lang="en-US" sz="2000" b="0" i="0" dirty="0">
                <a:solidFill>
                  <a:srgbClr val="0078D4"/>
                </a:solidFill>
                <a:latin typeface="Segoe UI Light"/>
                <a:ea typeface="Segoe UI Light"/>
                <a:cs typeface="Segoe UI Light"/>
              </a:rPr>
              <a:t>&lt; 6 mo</a:t>
            </a:r>
          </a:p>
          <a:p>
            <a:pPr algn="ctr">
              <a:spcBef>
                <a:spcPts val="0"/>
              </a:spcBef>
              <a:spcAft>
                <a:spcPts val="0"/>
              </a:spcAft>
            </a:pPr>
            <a:r>
              <a:rPr lang="en-US" sz="1200" b="0" i="0" dirty="0">
                <a:solidFill>
                  <a:srgbClr val="5E6A75"/>
                </a:solidFill>
                <a:latin typeface="Segoe UI"/>
                <a:ea typeface="Segoe UI"/>
                <a:cs typeface="Segoe UI"/>
              </a:rPr>
              <a:t>payback</a:t>
            </a:r>
          </a:p>
        </p:txBody>
      </p:sp>
      <p:sp>
        <p:nvSpPr>
          <p:cNvPr id="22" name="Rounded Rectangle 21"/>
          <p:cNvSpPr/>
          <p:nvPr/>
        </p:nvSpPr>
        <p:spPr>
          <a:xfrm>
            <a:off x="8961120" y="3273552"/>
            <a:ext cx="1417320" cy="1554480"/>
          </a:xfrm>
          <a:prstGeom prst="roundRect">
            <a:avLst>
              <a:gd name="adj" fmla="val 10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9015984" y="3383280"/>
            <a:ext cx="1307592" cy="1335024"/>
          </a:xfrm>
          <a:prstGeom prst="rect">
            <a:avLst/>
          </a:prstGeom>
          <a:noFill/>
        </p:spPr>
        <p:txBody>
          <a:bodyPr wrap="square" lIns="0" tIns="18288" rIns="0" bIns="18288" anchor="ctr"/>
          <a:lstStyle/>
          <a:p>
            <a:pPr algn="ctr">
              <a:spcBef>
                <a:spcPts val="0"/>
              </a:spcBef>
              <a:spcAft>
                <a:spcPts val="200"/>
              </a:spcAft>
            </a:pPr>
            <a:r>
              <a:rPr lang="en-US" sz="2000" b="0" i="0" dirty="0">
                <a:solidFill>
                  <a:srgbClr val="0078D4"/>
                </a:solidFill>
                <a:latin typeface="Segoe UI Light"/>
                <a:ea typeface="Segoe UI Light"/>
                <a:cs typeface="Segoe UI Light"/>
              </a:rPr>
              <a:t>$16.6M</a:t>
            </a:r>
          </a:p>
          <a:p>
            <a:pPr algn="ctr">
              <a:spcBef>
                <a:spcPts val="0"/>
              </a:spcBef>
              <a:spcAft>
                <a:spcPts val="0"/>
              </a:spcAft>
            </a:pPr>
            <a:r>
              <a:rPr lang="en-US" sz="1200" b="0" i="0" dirty="0">
                <a:solidFill>
                  <a:srgbClr val="5E6A75"/>
                </a:solidFill>
                <a:latin typeface="Segoe UI"/>
                <a:ea typeface="Segoe UI"/>
                <a:cs typeface="Segoe UI"/>
              </a:rPr>
              <a:t>NPV</a:t>
            </a:r>
          </a:p>
        </p:txBody>
      </p:sp>
      <p:sp>
        <p:nvSpPr>
          <p:cNvPr id="24" name="Rounded Rectangle 23"/>
          <p:cNvSpPr/>
          <p:nvPr/>
        </p:nvSpPr>
        <p:spPr>
          <a:xfrm>
            <a:off x="10469880" y="3273552"/>
            <a:ext cx="1417320" cy="1554480"/>
          </a:xfrm>
          <a:prstGeom prst="roundRect">
            <a:avLst>
              <a:gd name="adj" fmla="val 10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10524744" y="3383280"/>
            <a:ext cx="1307592" cy="1335024"/>
          </a:xfrm>
          <a:prstGeom prst="rect">
            <a:avLst/>
          </a:prstGeom>
          <a:noFill/>
        </p:spPr>
        <p:txBody>
          <a:bodyPr wrap="square" lIns="0" tIns="18288" rIns="0" bIns="18288" anchor="ctr"/>
          <a:lstStyle/>
          <a:p>
            <a:pPr algn="ctr">
              <a:spcBef>
                <a:spcPts val="0"/>
              </a:spcBef>
              <a:spcAft>
                <a:spcPts val="200"/>
              </a:spcAft>
            </a:pPr>
            <a:r>
              <a:rPr lang="en-US" sz="2000" b="0" i="0" dirty="0">
                <a:solidFill>
                  <a:srgbClr val="0078D4"/>
                </a:solidFill>
                <a:latin typeface="Segoe UI Light"/>
                <a:ea typeface="Segoe UI Light"/>
                <a:cs typeface="Segoe UI Light"/>
              </a:rPr>
              <a:t>20%</a:t>
            </a:r>
          </a:p>
          <a:p>
            <a:pPr algn="ctr">
              <a:spcBef>
                <a:spcPts val="0"/>
              </a:spcBef>
              <a:spcAft>
                <a:spcPts val="0"/>
              </a:spcAft>
            </a:pPr>
            <a:r>
              <a:rPr lang="en-US" sz="1200" b="0" i="0" dirty="0">
                <a:solidFill>
                  <a:srgbClr val="5E6A75"/>
                </a:solidFill>
                <a:latin typeface="Segoe UI"/>
                <a:ea typeface="Segoe UI"/>
                <a:cs typeface="Segoe UI"/>
              </a:rPr>
              <a:t>lower TCO</a:t>
            </a:r>
          </a:p>
        </p:txBody>
      </p:sp>
      <p:sp>
        <p:nvSpPr>
          <p:cNvPr id="26" name="TextBox 25"/>
          <p:cNvSpPr txBox="1"/>
          <p:nvPr/>
        </p:nvSpPr>
        <p:spPr>
          <a:xfrm>
            <a:off x="4434840" y="4956048"/>
            <a:ext cx="7360920" cy="438912"/>
          </a:xfrm>
          <a:prstGeom prst="rect">
            <a:avLst/>
          </a:prstGeom>
          <a:noFill/>
        </p:spPr>
        <p:txBody>
          <a:bodyPr wrap="square" lIns="0" tIns="18288" rIns="0" bIns="18288" anchor="t"/>
          <a:lstStyle/>
          <a:p>
            <a:pPr algn="l">
              <a:spcBef>
                <a:spcPts val="0"/>
              </a:spcBef>
              <a:spcAft>
                <a:spcPts val="0"/>
              </a:spcAft>
            </a:pPr>
            <a:r>
              <a:rPr lang="en-US" sz="1100" b="0" i="0" dirty="0">
                <a:solidFill>
                  <a:srgbClr val="8A97A1"/>
                </a:solidFill>
                <a:latin typeface="Segoe UI"/>
                <a:ea typeface="Segoe UI"/>
                <a:cs typeface="Segoe UI"/>
              </a:rPr>
              <a:t>Forrester Total Economic Impact™ of Microsoft Security, May 2026.
Commissioned by Microsoft. Composite organization.</a:t>
            </a:r>
          </a:p>
        </p:txBody>
      </p:sp>
      <p:sp>
        <p:nvSpPr>
          <p:cNvPr id="27" name="TextBox 26"/>
          <p:cNvSpPr txBox="1"/>
          <p:nvPr/>
        </p:nvSpPr>
        <p:spPr>
          <a:xfrm>
            <a:off x="4434840" y="5532120"/>
            <a:ext cx="7360920" cy="822960"/>
          </a:xfrm>
          <a:prstGeom prst="rect">
            <a:avLst/>
          </a:prstGeom>
          <a:noFill/>
        </p:spPr>
        <p:txBody>
          <a:bodyPr wrap="square" lIns="0" tIns="18288" rIns="0" bIns="18288" anchor="t"/>
          <a:lstStyle/>
          <a:p>
            <a:pPr algn="l">
              <a:spcBef>
                <a:spcPts val="0"/>
              </a:spcBef>
              <a:spcAft>
                <a:spcPts val="0"/>
              </a:spcAft>
            </a:pPr>
            <a:r>
              <a:rPr lang="en-US" sz="1800" b="0" i="0" dirty="0">
                <a:solidFill>
                  <a:srgbClr val="102033"/>
                </a:solidFill>
                <a:latin typeface="Segoe UI Light"/>
                <a:ea typeface="Segoe UI Light"/>
                <a:cs typeface="Segoe UI Light"/>
              </a:rPr>
              <a:t>Trust isn’t simply a security outcome.</a:t>
            </a:r>
          </a:p>
          <a:p>
            <a:pPr algn="l">
              <a:spcBef>
                <a:spcPts val="0"/>
              </a:spcBef>
              <a:spcAft>
                <a:spcPts val="0"/>
              </a:spcAft>
            </a:pPr>
            <a:r>
              <a:rPr lang="en-US" sz="1800" b="0" i="0" dirty="0">
                <a:solidFill>
                  <a:srgbClr val="0E2438"/>
                </a:solidFill>
                <a:latin typeface="Segoe UI Semibold"/>
                <a:ea typeface="Segoe UI Semibold"/>
                <a:cs typeface="Segoe UI Semibold"/>
              </a:rPr>
              <a:t>It’s a business capability.</a:t>
            </a:r>
          </a:p>
        </p:txBody>
      </p:sp>
      <p:sp>
        <p:nvSpPr>
          <p:cNvPr id="28" name="TextBox 27"/>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8A97A1"/>
                </a:solidFill>
                <a:latin typeface="Segoe UI Semibold"/>
                <a:ea typeface="Segoe UI Semibold"/>
                <a:cs typeface="Segoe UI Semibold"/>
              </a:rPr>
              <a:t>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422"/>
        </a:solidFill>
        <a:effectLst/>
      </p:bgPr>
    </p:bg>
    <p:spTree>
      <p:nvGrpSpPr>
        <p:cNvPr id="1" name=""/>
        <p:cNvGrpSpPr/>
        <p:nvPr/>
      </p:nvGrpSpPr>
      <p:grpSpPr>
        <a:xfrm>
          <a:off x="0" y="0"/>
          <a:ext cx="0" cy="0"/>
          <a:chOff x="0" y="0"/>
          <a:chExt cx="0" cy="0"/>
        </a:xfrm>
      </p:grpSpPr>
      <p:pic>
        <p:nvPicPr>
          <p:cNvPr id="2" name="Picture 1" descr="A bright dawn horizon over a still sea."/>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0" y="2926080"/>
            <a:ext cx="12191999" cy="3931920"/>
          </a:xfrm>
          <a:prstGeom prst="rect">
            <a:avLst/>
          </a:prstGeom>
          <a:gradFill rotWithShape="1">
            <a:gsLst>
              <a:gs pos="0">
                <a:srgbClr val="071422">
                  <a:alpha val="0"/>
                </a:srgbClr>
              </a:gs>
              <a:gs pos="25000">
                <a:srgbClr val="071422">
                  <a:alpha val="40000"/>
                </a:srgbClr>
              </a:gs>
              <a:gs pos="100000">
                <a:srgbClr val="071422">
                  <a:alpha val="8800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731520" y="3246120"/>
            <a:ext cx="10728959" cy="3108960"/>
          </a:xfrm>
          <a:prstGeom prst="rect">
            <a:avLst/>
          </a:prstGeom>
          <a:noFill/>
        </p:spPr>
        <p:txBody>
          <a:bodyPr wrap="square" lIns="0" tIns="18288" rIns="0" bIns="18288" anchor="t"/>
          <a:lstStyle/>
          <a:p>
            <a:pPr algn="ctr">
              <a:spcBef>
                <a:spcPts val="0"/>
              </a:spcBef>
              <a:spcAft>
                <a:spcPts val="800"/>
              </a:spcAft>
            </a:pPr>
            <a:r>
              <a:rPr lang="en-US" sz="1400" b="0" i="0" spc="320" dirty="0">
                <a:solidFill>
                  <a:srgbClr val="E4C48A"/>
                </a:solidFill>
                <a:latin typeface="Segoe UI Semibold"/>
                <a:ea typeface="Segoe UI Semibold"/>
                <a:cs typeface="Segoe UI Semibold"/>
              </a:rPr>
              <a:t>SECURE WHAT’S NEXT</a:t>
            </a:r>
          </a:p>
          <a:p>
            <a:pPr algn="ctr">
              <a:spcBef>
                <a:spcPts val="0"/>
              </a:spcBef>
              <a:spcAft>
                <a:spcPts val="1200"/>
              </a:spcAft>
            </a:pPr>
            <a:r>
              <a:rPr lang="en-US" sz="3400" b="0" i="0" dirty="0">
                <a:solidFill>
                  <a:srgbClr val="FFFFFF"/>
                </a:solidFill>
                <a:latin typeface="Segoe UI Light"/>
                <a:ea typeface="Segoe UI Light"/>
                <a:cs typeface="Segoe UI Light"/>
              </a:rPr>
              <a:t>The frontier will keep moving.</a:t>
            </a:r>
          </a:p>
          <a:p>
            <a:pPr algn="ctr">
              <a:spcBef>
                <a:spcPts val="0"/>
              </a:spcBef>
              <a:spcAft>
                <a:spcPts val="1600"/>
              </a:spcAft>
            </a:pPr>
            <a:r>
              <a:rPr lang="en-US" sz="1600" b="0" i="0" dirty="0">
                <a:solidFill>
                  <a:srgbClr val="F4EFE6"/>
                </a:solidFill>
                <a:latin typeface="Segoe UI"/>
                <a:ea typeface="Segoe UI"/>
                <a:cs typeface="Segoe UI"/>
              </a:rPr>
              <a:t>AI will get more capable.</a:t>
            </a:r>
            <a:r>
              <a:rPr lang="en-US" sz="1600" b="0" i="0" dirty="0">
                <a:solidFill>
                  <a:srgbClr val="9ADCF2"/>
                </a:solidFill>
                <a:latin typeface="Segoe UI"/>
                <a:ea typeface="Segoe UI"/>
                <a:cs typeface="Segoe UI"/>
              </a:rPr>
              <a:t>      ·      </a:t>
            </a:r>
            <a:r>
              <a:rPr lang="en-US" sz="1600" b="0" i="0" dirty="0">
                <a:solidFill>
                  <a:srgbClr val="F4EFE6"/>
                </a:solidFill>
                <a:latin typeface="Segoe UI"/>
                <a:ea typeface="Segoe UI"/>
                <a:cs typeface="Segoe UI"/>
              </a:rPr>
              <a:t>Agents will do more.</a:t>
            </a:r>
            <a:r>
              <a:rPr lang="en-US" sz="1600" b="0" i="0" dirty="0">
                <a:solidFill>
                  <a:srgbClr val="9ADCF2"/>
                </a:solidFill>
                <a:latin typeface="Segoe UI"/>
                <a:ea typeface="Segoe UI"/>
                <a:cs typeface="Segoe UI"/>
              </a:rPr>
              <a:t>      ·      </a:t>
            </a:r>
            <a:r>
              <a:rPr lang="en-US" sz="1600" b="0" i="0" dirty="0">
                <a:solidFill>
                  <a:srgbClr val="F4EFE6"/>
                </a:solidFill>
                <a:latin typeface="Segoe UI"/>
                <a:ea typeface="Segoe UI"/>
                <a:cs typeface="Segoe UI"/>
              </a:rPr>
              <a:t>Organizations will move faster.</a:t>
            </a:r>
          </a:p>
          <a:p>
            <a:pPr algn="ctr">
              <a:spcBef>
                <a:spcPts val="0"/>
              </a:spcBef>
              <a:spcAft>
                <a:spcPts val="400"/>
              </a:spcAft>
            </a:pPr>
            <a:r>
              <a:rPr lang="en-US" sz="1800" b="0" i="0" dirty="0">
                <a:solidFill>
                  <a:srgbClr val="FFFFFF"/>
                </a:solidFill>
                <a:latin typeface="Segoe UI"/>
                <a:ea typeface="Segoe UI"/>
                <a:cs typeface="Segoe UI"/>
              </a:rPr>
              <a:t>Our opportunity isn’t to make customers afraid of what’s next.</a:t>
            </a:r>
          </a:p>
          <a:p>
            <a:pPr algn="ctr">
              <a:spcBef>
                <a:spcPts val="0"/>
              </a:spcBef>
              <a:spcAft>
                <a:spcPts val="0"/>
              </a:spcAft>
            </a:pPr>
            <a:r>
              <a:rPr lang="en-US" sz="2200" b="0" i="0" dirty="0">
                <a:solidFill>
                  <a:srgbClr val="9ADCF2"/>
                </a:solidFill>
                <a:latin typeface="Segoe UI Semibold"/>
                <a:ea typeface="Segoe UI Semibold"/>
                <a:cs typeface="Segoe UI Semibold"/>
              </a:rPr>
              <a:t>It’s to give them the confidence to embrace it.</a:t>
            </a:r>
          </a:p>
        </p:txBody>
      </p:sp>
      <p:sp>
        <p:nvSpPr>
          <p:cNvPr id="5" name="TextBox 4"/>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09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11C"/>
        </a:solidFill>
        <a:effectLst/>
      </p:bgPr>
    </p:bg>
    <p:spTree>
      <p:nvGrpSpPr>
        <p:cNvPr id="1" name=""/>
        <p:cNvGrpSpPr/>
        <p:nvPr/>
      </p:nvGrpSpPr>
      <p:grpSpPr>
        <a:xfrm>
          <a:off x="0" y="0"/>
          <a:ext cx="0" cy="0"/>
          <a:chOff x="0" y="0"/>
          <a:chExt cx="0" cy="0"/>
        </a:xfrm>
      </p:grpSpPr>
      <p:pic>
        <p:nvPicPr>
          <p:cNvPr id="2" name="Picture 1" descr="Dawn on a still sea, held as a closing title."/>
          <p:cNvPicPr>
            <a:picLocks noChangeAspect="1"/>
          </p:cNvPicPr>
          <p:nvPr/>
        </p:nvPicPr>
        <p:blipFill>
          <a:blip r:embed="rId3"/>
          <a:stretch>
            <a:fillRect/>
          </a:stretch>
        </p:blipFill>
        <p:spPr>
          <a:xfrm>
            <a:off x="0" y="0"/>
            <a:ext cx="12191999" cy="6858000"/>
          </a:xfrm>
          <a:prstGeom prst="rect">
            <a:avLst/>
          </a:prstGeom>
        </p:spPr>
      </p:pic>
      <p:sp>
        <p:nvSpPr>
          <p:cNvPr id="3" name="Rectangle 2"/>
          <p:cNvSpPr/>
          <p:nvPr/>
        </p:nvSpPr>
        <p:spPr>
          <a:xfrm>
            <a:off x="0" y="0"/>
            <a:ext cx="12191999" cy="3017520"/>
          </a:xfrm>
          <a:prstGeom prst="rect">
            <a:avLst/>
          </a:prstGeom>
          <a:gradFill rotWithShape="1">
            <a:gsLst>
              <a:gs pos="0">
                <a:srgbClr val="07111C">
                  <a:alpha val="82000"/>
                </a:srgbClr>
              </a:gs>
              <a:gs pos="70000">
                <a:srgbClr val="07111C">
                  <a:alpha val="25000"/>
                </a:srgbClr>
              </a:gs>
              <a:gs pos="100000">
                <a:srgbClr val="07111C">
                  <a:alpha val="0"/>
                </a:srgb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Rectangle 3"/>
          <p:cNvSpPr/>
          <p:nvPr/>
        </p:nvSpPr>
        <p:spPr>
          <a:xfrm>
            <a:off x="0" y="3931920"/>
            <a:ext cx="12191999" cy="2926080"/>
          </a:xfrm>
          <a:prstGeom prst="rect">
            <a:avLst/>
          </a:prstGeom>
          <a:gradFill rotWithShape="1">
            <a:gsLst>
              <a:gs pos="0">
                <a:srgbClr val="07111C">
                  <a:alpha val="88000"/>
                </a:srgbClr>
              </a:gs>
              <a:gs pos="65000">
                <a:srgbClr val="07111C">
                  <a:alpha val="30000"/>
                </a:srgbClr>
              </a:gs>
              <a:gs pos="100000">
                <a:srgbClr val="07111C">
                  <a:alpha val="0"/>
                </a:srgbClr>
              </a:gs>
            </a:gsLst>
            <a:lin ang="16200000" scaled="0"/>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548640" y="777240"/>
            <a:ext cx="11094719" cy="1920240"/>
          </a:xfrm>
          <a:prstGeom prst="rect">
            <a:avLst/>
          </a:prstGeom>
          <a:noFill/>
        </p:spPr>
        <p:txBody>
          <a:bodyPr wrap="square" lIns="0" tIns="18288" rIns="0" bIns="18288" anchor="t"/>
          <a:lstStyle/>
          <a:p>
            <a:pPr algn="ctr">
              <a:lnSpc>
                <a:spcPct val="94000"/>
              </a:lnSpc>
              <a:spcBef>
                <a:spcPts val="0"/>
              </a:spcBef>
              <a:spcAft>
                <a:spcPts val="0"/>
              </a:spcAft>
            </a:pPr>
            <a:r>
              <a:rPr lang="en-US" sz="4000" b="0" i="0" dirty="0">
                <a:solidFill>
                  <a:srgbClr val="FFFFFF"/>
                </a:solidFill>
                <a:latin typeface="Segoe UI Light"/>
                <a:ea typeface="Segoe UI Light"/>
                <a:cs typeface="Segoe UI Light"/>
              </a:rPr>
              <a:t>SECURE WHAT’S NEXT.</a:t>
            </a:r>
          </a:p>
          <a:p>
            <a:pPr algn="ctr">
              <a:spcBef>
                <a:spcPts val="0"/>
              </a:spcBef>
              <a:spcAft>
                <a:spcPts val="0"/>
              </a:spcAft>
            </a:pPr>
            <a:r>
              <a:rPr lang="en-US" sz="3200" b="0" i="0" dirty="0">
                <a:solidFill>
                  <a:srgbClr val="9ADCF2"/>
                </a:solidFill>
                <a:latin typeface="Segoe UI Semibold"/>
                <a:ea typeface="Segoe UI Semibold"/>
                <a:cs typeface="Segoe UI Semibold"/>
              </a:rPr>
              <a:t>POWER THE FRONTIER.</a:t>
            </a:r>
          </a:p>
        </p:txBody>
      </p:sp>
      <p:sp>
        <p:nvSpPr>
          <p:cNvPr id="6" name="TextBox 5"/>
          <p:cNvSpPr txBox="1"/>
          <p:nvPr/>
        </p:nvSpPr>
        <p:spPr>
          <a:xfrm>
            <a:off x="731520" y="4709160"/>
            <a:ext cx="10728959" cy="1554480"/>
          </a:xfrm>
          <a:prstGeom prst="rect">
            <a:avLst/>
          </a:prstGeom>
          <a:noFill/>
        </p:spPr>
        <p:txBody>
          <a:bodyPr wrap="square" lIns="0" tIns="18288" rIns="0" bIns="18288" anchor="t"/>
          <a:lstStyle/>
          <a:p>
            <a:pPr algn="ctr">
              <a:spcBef>
                <a:spcPts val="0"/>
              </a:spcBef>
              <a:spcAft>
                <a:spcPts val="1200"/>
              </a:spcAft>
            </a:pPr>
            <a:r>
              <a:rPr lang="en-US" sz="1600" b="0" i="0" dirty="0">
                <a:solidFill>
                  <a:srgbClr val="E4C48A"/>
                </a:solidFill>
                <a:latin typeface="Segoe UI"/>
                <a:ea typeface="Segoe UI"/>
                <a:cs typeface="Segoe UI"/>
              </a:rPr>
              <a:t>Security Powers the Frontier     ·     Intelligence + Trust</a:t>
            </a:r>
          </a:p>
          <a:p>
            <a:pPr algn="ctr">
              <a:spcBef>
                <a:spcPts val="0"/>
              </a:spcBef>
              <a:spcAft>
                <a:spcPts val="200"/>
              </a:spcAft>
            </a:pPr>
            <a:r>
              <a:rPr lang="en-US" sz="2200" b="0" i="0" dirty="0">
                <a:solidFill>
                  <a:srgbClr val="FFFFFF"/>
                </a:solidFill>
                <a:latin typeface="Segoe UI Semibold"/>
                <a:ea typeface="Segoe UI Semibold"/>
                <a:cs typeface="Segoe UI Semibold"/>
              </a:rPr>
              <a:t>Olga</a:t>
            </a:r>
          </a:p>
          <a:p>
            <a:pPr algn="ctr">
              <a:spcBef>
                <a:spcPts val="0"/>
              </a:spcBef>
              <a:spcAft>
                <a:spcPts val="0"/>
              </a:spcAft>
            </a:pPr>
            <a:r>
              <a:rPr lang="en-US" sz="1500" b="0" i="0" dirty="0">
                <a:solidFill>
                  <a:srgbClr val="E7EEF2"/>
                </a:solidFill>
                <a:latin typeface="Segoe UI"/>
                <a:ea typeface="Segoe UI"/>
                <a:cs typeface="Segoe UI"/>
              </a:rPr>
              <a:t>Security Specialist, Microsoft</a:t>
            </a:r>
          </a:p>
        </p:txBody>
      </p:sp>
      <p:sp>
        <p:nvSpPr>
          <p:cNvPr id="7" name="TextBox 6"/>
          <p:cNvSpPr txBox="1"/>
          <p:nvPr/>
        </p:nvSpPr>
        <p:spPr>
          <a:xfrm>
            <a:off x="11155680" y="6547104"/>
            <a:ext cx="777240" cy="219456"/>
          </a:xfrm>
          <a:prstGeom prst="rect">
            <a:avLst/>
          </a:prstGeom>
          <a:noFill/>
        </p:spPr>
        <p:txBody>
          <a:bodyPr wrap="square" lIns="0" tIns="18288" rIns="0" bIns="18288" anchor="t"/>
          <a:lstStyle/>
          <a:p>
            <a:pPr algn="r">
              <a:spcBef>
                <a:spcPts val="0"/>
              </a:spcBef>
              <a:spcAft>
                <a:spcPts val="0"/>
              </a:spcAft>
            </a:pPr>
            <a:r>
              <a:rPr lang="en-US" sz="1100" b="0" i="0" spc="140" dirty="0">
                <a:solidFill>
                  <a:srgbClr val="E4C48A"/>
                </a:solidFill>
                <a:latin typeface="Segoe UI Semibold"/>
                <a:ea typeface="Segoe UI Semibold"/>
                <a:cs typeface="Segoe UI Semibold"/>
              </a:rPr>
              <a:t>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MARTNOTES-DATA-SMARTSLIDE" val="{&quot;Animations&quot;:[],&quot;HasNotesSynced&quot;:false,&quot;Id&quot;:332,&quot;Index&quot;:56,&quot;IsHidden&quot;:false,&quot;Name&quot;:&quot;Slide77&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lt;/Run&gt;&lt;/Paragraph&gt;&lt;/Section&gt;&quot;,&quot;ParentSlideId&quot;:2147483638,&quot;PagesHistory&quot;:[{&quot;Id&quot;:1,&quot;Index&quot;:0,&quot;TriggerType&quot;:2,&quot;HasChildren&quot;:false}],&quot;Pages&quot;:[{&quot;Id&quot;:1,&quot;Index&quot;:0,&quot;TriggerType&quot;:2,&quot;HasChildren&quot;:fals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1806</Words>
  <Application>Microsoft Office PowerPoint</Application>
  <PresentationFormat>Widescreen</PresentationFormat>
  <Paragraphs>226</Paragraphs>
  <Slides>12</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Aptos</vt:lpstr>
      <vt:lpstr>Arial</vt:lpstr>
      <vt:lpstr>Calibri</vt:lpstr>
      <vt:lpstr>Segoe Sans Display</vt:lpstr>
      <vt:lpstr>Segoe Sans Display Semibold</vt:lpstr>
      <vt:lpstr>Segoe Sans Display Semilight</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AI first end-to-end Security platform</vt:lpstr>
      <vt:lpstr>Secure agents. Secure foundations. </vt:lpstr>
      <vt:lpstr>Microsoft Agent 365</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Powers the Frontier</dc:title>
  <dc:subject>The confidence to embrace what’s next</dc:subject>
  <dc:creator>Olga, Security Specialist, Microsoft</dc:creator>
  <cp:keywords/>
  <dc:description>generated using python-pptx</dc:description>
  <cp:lastModifiedBy>Jerry Evans</cp:lastModifiedBy>
  <cp:revision>1</cp:revision>
  <dcterms:created xsi:type="dcterms:W3CDTF">2013-01-27T09:14:16Z</dcterms:created>
  <dcterms:modified xsi:type="dcterms:W3CDTF">2026-10-25T22:34:11Z</dcterms:modified>
  <cp:category>Microsoft Security</cp:category>
</cp:coreProperties>
</file>